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4" r:id="rId2"/>
    <p:sldId id="263"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E69"/>
    <a:srgbClr val="EC7E32"/>
    <a:srgbClr val="E77E32"/>
    <a:srgbClr val="E77E69"/>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9" autoAdjust="0"/>
    <p:restoredTop sz="94660"/>
  </p:normalViewPr>
  <p:slideViewPr>
    <p:cSldViewPr snapToGrid="0">
      <p:cViewPr varScale="1">
        <p:scale>
          <a:sx n="69" d="100"/>
          <a:sy n="69" d="100"/>
        </p:scale>
        <p:origin x="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010C68-B77B-4431-A0A7-693CF58E734A}" type="datetimeFigureOut">
              <a:rPr lang="en-IN" smtClean="0"/>
              <a:t>17-09-2026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2EA21-F04E-4710-B9FC-7A1962EBE760}" type="slidenum">
              <a:rPr lang="en-IN" smtClean="0"/>
              <a:t>‹#›</a:t>
            </a:fld>
            <a:endParaRPr lang="en-IN"/>
          </a:p>
        </p:txBody>
      </p:sp>
    </p:spTree>
    <p:extLst>
      <p:ext uri="{BB962C8B-B14F-4D97-AF65-F5344CB8AC3E}">
        <p14:creationId xmlns:p14="http://schemas.microsoft.com/office/powerpoint/2010/main" val="1337875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a:t>
            </a:fld>
            <a:endParaRPr lang="en-IN"/>
          </a:p>
        </p:txBody>
      </p:sp>
    </p:spTree>
    <p:extLst>
      <p:ext uri="{BB962C8B-B14F-4D97-AF65-F5344CB8AC3E}">
        <p14:creationId xmlns:p14="http://schemas.microsoft.com/office/powerpoint/2010/main" val="109264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a:t>
            </a:fld>
            <a:endParaRPr lang="en-IN"/>
          </a:p>
        </p:txBody>
      </p:sp>
    </p:spTree>
    <p:extLst>
      <p:ext uri="{BB962C8B-B14F-4D97-AF65-F5344CB8AC3E}">
        <p14:creationId xmlns:p14="http://schemas.microsoft.com/office/powerpoint/2010/main" val="1527245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3</a:t>
            </a:fld>
            <a:endParaRPr lang="en-IN"/>
          </a:p>
        </p:txBody>
      </p:sp>
    </p:spTree>
    <p:extLst>
      <p:ext uri="{BB962C8B-B14F-4D97-AF65-F5344CB8AC3E}">
        <p14:creationId xmlns:p14="http://schemas.microsoft.com/office/powerpoint/2010/main" val="3004057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4</a:t>
            </a:fld>
            <a:endParaRPr lang="en-IN"/>
          </a:p>
        </p:txBody>
      </p:sp>
    </p:spTree>
    <p:extLst>
      <p:ext uri="{BB962C8B-B14F-4D97-AF65-F5344CB8AC3E}">
        <p14:creationId xmlns:p14="http://schemas.microsoft.com/office/powerpoint/2010/main" val="1340016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5</a:t>
            </a:fld>
            <a:endParaRPr lang="en-IN"/>
          </a:p>
        </p:txBody>
      </p:sp>
    </p:spTree>
    <p:extLst>
      <p:ext uri="{BB962C8B-B14F-4D97-AF65-F5344CB8AC3E}">
        <p14:creationId xmlns:p14="http://schemas.microsoft.com/office/powerpoint/2010/main" val="1528908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6</a:t>
            </a:fld>
            <a:endParaRPr lang="en-IN"/>
          </a:p>
        </p:txBody>
      </p:sp>
    </p:spTree>
    <p:extLst>
      <p:ext uri="{BB962C8B-B14F-4D97-AF65-F5344CB8AC3E}">
        <p14:creationId xmlns:p14="http://schemas.microsoft.com/office/powerpoint/2010/main" val="3689480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7</a:t>
            </a:fld>
            <a:endParaRPr lang="en-IN"/>
          </a:p>
        </p:txBody>
      </p:sp>
    </p:spTree>
    <p:extLst>
      <p:ext uri="{BB962C8B-B14F-4D97-AF65-F5344CB8AC3E}">
        <p14:creationId xmlns:p14="http://schemas.microsoft.com/office/powerpoint/2010/main" val="1547607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8</a:t>
            </a:fld>
            <a:endParaRPr lang="en-IN"/>
          </a:p>
        </p:txBody>
      </p:sp>
    </p:spTree>
    <p:extLst>
      <p:ext uri="{BB962C8B-B14F-4D97-AF65-F5344CB8AC3E}">
        <p14:creationId xmlns:p14="http://schemas.microsoft.com/office/powerpoint/2010/main" val="1894836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9</a:t>
            </a:fld>
            <a:endParaRPr lang="en-IN"/>
          </a:p>
        </p:txBody>
      </p:sp>
    </p:spTree>
    <p:extLst>
      <p:ext uri="{BB962C8B-B14F-4D97-AF65-F5344CB8AC3E}">
        <p14:creationId xmlns:p14="http://schemas.microsoft.com/office/powerpoint/2010/main" val="2311426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10</a:t>
            </a:fld>
            <a:endParaRPr lang="en-IN"/>
          </a:p>
        </p:txBody>
      </p:sp>
    </p:spTree>
    <p:extLst>
      <p:ext uri="{BB962C8B-B14F-4D97-AF65-F5344CB8AC3E}">
        <p14:creationId xmlns:p14="http://schemas.microsoft.com/office/powerpoint/2010/main" val="2517257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11</a:t>
            </a:fld>
            <a:endParaRPr lang="en-IN"/>
          </a:p>
        </p:txBody>
      </p:sp>
    </p:spTree>
    <p:extLst>
      <p:ext uri="{BB962C8B-B14F-4D97-AF65-F5344CB8AC3E}">
        <p14:creationId xmlns:p14="http://schemas.microsoft.com/office/powerpoint/2010/main" val="744938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12</a:t>
            </a:fld>
            <a:endParaRPr lang="en-IN"/>
          </a:p>
        </p:txBody>
      </p:sp>
    </p:spTree>
    <p:extLst>
      <p:ext uri="{BB962C8B-B14F-4D97-AF65-F5344CB8AC3E}">
        <p14:creationId xmlns:p14="http://schemas.microsoft.com/office/powerpoint/2010/main" val="1449614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13</a:t>
            </a:fld>
            <a:endParaRPr lang="en-IN"/>
          </a:p>
        </p:txBody>
      </p:sp>
    </p:spTree>
    <p:extLst>
      <p:ext uri="{BB962C8B-B14F-4D97-AF65-F5344CB8AC3E}">
        <p14:creationId xmlns:p14="http://schemas.microsoft.com/office/powerpoint/2010/main" val="3058995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14</a:t>
            </a:fld>
            <a:endParaRPr lang="en-IN"/>
          </a:p>
        </p:txBody>
      </p:sp>
    </p:spTree>
    <p:extLst>
      <p:ext uri="{BB962C8B-B14F-4D97-AF65-F5344CB8AC3E}">
        <p14:creationId xmlns:p14="http://schemas.microsoft.com/office/powerpoint/2010/main" val="3581895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15</a:t>
            </a:fld>
            <a:endParaRPr lang="en-IN"/>
          </a:p>
        </p:txBody>
      </p:sp>
    </p:spTree>
    <p:extLst>
      <p:ext uri="{BB962C8B-B14F-4D97-AF65-F5344CB8AC3E}">
        <p14:creationId xmlns:p14="http://schemas.microsoft.com/office/powerpoint/2010/main" val="3296213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16</a:t>
            </a:fld>
            <a:endParaRPr lang="en-IN"/>
          </a:p>
        </p:txBody>
      </p:sp>
    </p:spTree>
    <p:extLst>
      <p:ext uri="{BB962C8B-B14F-4D97-AF65-F5344CB8AC3E}">
        <p14:creationId xmlns:p14="http://schemas.microsoft.com/office/powerpoint/2010/main" val="581699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17</a:t>
            </a:fld>
            <a:endParaRPr lang="en-IN"/>
          </a:p>
        </p:txBody>
      </p:sp>
    </p:spTree>
    <p:extLst>
      <p:ext uri="{BB962C8B-B14F-4D97-AF65-F5344CB8AC3E}">
        <p14:creationId xmlns:p14="http://schemas.microsoft.com/office/powerpoint/2010/main" val="4212337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18</a:t>
            </a:fld>
            <a:endParaRPr lang="en-IN"/>
          </a:p>
        </p:txBody>
      </p:sp>
    </p:spTree>
    <p:extLst>
      <p:ext uri="{BB962C8B-B14F-4D97-AF65-F5344CB8AC3E}">
        <p14:creationId xmlns:p14="http://schemas.microsoft.com/office/powerpoint/2010/main" val="8024167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19</a:t>
            </a:fld>
            <a:endParaRPr lang="en-IN"/>
          </a:p>
        </p:txBody>
      </p:sp>
    </p:spTree>
    <p:extLst>
      <p:ext uri="{BB962C8B-B14F-4D97-AF65-F5344CB8AC3E}">
        <p14:creationId xmlns:p14="http://schemas.microsoft.com/office/powerpoint/2010/main" val="3429130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7534E-BF6C-2CFD-16E9-84EA617213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280B7E-AAA9-C962-786B-78A0B50E67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E2E0A7F-5868-6266-DF6E-1BBFCC073A0F}"/>
              </a:ext>
            </a:extLst>
          </p:cNvPr>
          <p:cNvSpPr>
            <a:spLocks noGrp="1"/>
          </p:cNvSpPr>
          <p:nvPr>
            <p:ph type="dt" sz="half" idx="10"/>
          </p:nvPr>
        </p:nvSpPr>
        <p:spPr/>
        <p:txBody>
          <a:bodyPr/>
          <a:lstStyle/>
          <a:p>
            <a:fld id="{6F881051-4A15-4975-B283-5AE4382EA000}" type="datetime1">
              <a:rPr lang="en-IN" smtClean="0"/>
              <a:t>17-09-2026</a:t>
            </a:fld>
            <a:endParaRPr lang="en-IN"/>
          </a:p>
        </p:txBody>
      </p:sp>
      <p:sp>
        <p:nvSpPr>
          <p:cNvPr id="5" name="Footer Placeholder 4">
            <a:extLst>
              <a:ext uri="{FF2B5EF4-FFF2-40B4-BE49-F238E27FC236}">
                <a16:creationId xmlns:a16="http://schemas.microsoft.com/office/drawing/2014/main" id="{F7B2573E-23F6-BE97-E5F6-D90496C55B87}"/>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4D7E5366-8A91-F195-6550-6C84F49F44A2}"/>
              </a:ext>
            </a:extLst>
          </p:cNvPr>
          <p:cNvSpPr>
            <a:spLocks noGrp="1"/>
          </p:cNvSpPr>
          <p:nvPr>
            <p:ph type="sldNum" sz="quarter" idx="12"/>
          </p:nvPr>
        </p:nvSpPr>
        <p:spPr/>
        <p:txBody>
          <a:bodyPr/>
          <a:lstStyle/>
          <a:p>
            <a:r>
              <a:rPr lang="en-IN" dirty="0"/>
              <a:t>Slide </a:t>
            </a:r>
            <a:fld id="{0F06A4E2-163B-4ABA-8562-AD05AC3F17C5}" type="slidenum">
              <a:rPr lang="en-IN" smtClean="0"/>
              <a:pPr/>
              <a:t>‹#›</a:t>
            </a:fld>
            <a:r>
              <a:rPr lang="en-IN" dirty="0"/>
              <a:t> 75</a:t>
            </a:r>
          </a:p>
        </p:txBody>
      </p:sp>
    </p:spTree>
    <p:extLst>
      <p:ext uri="{BB962C8B-B14F-4D97-AF65-F5344CB8AC3E}">
        <p14:creationId xmlns:p14="http://schemas.microsoft.com/office/powerpoint/2010/main" val="1787511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9E308-5323-AE5D-6FA7-ED71A6BAE3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5A451D-BD97-7FD0-FF0C-A5112C679A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91E600-3BBF-7179-64F8-7BF678584D79}"/>
              </a:ext>
            </a:extLst>
          </p:cNvPr>
          <p:cNvSpPr>
            <a:spLocks noGrp="1"/>
          </p:cNvSpPr>
          <p:nvPr>
            <p:ph type="dt" sz="half" idx="10"/>
          </p:nvPr>
        </p:nvSpPr>
        <p:spPr/>
        <p:txBody>
          <a:bodyPr/>
          <a:lstStyle/>
          <a:p>
            <a:fld id="{448024DB-6B9A-4615-862D-DCC9162E1D46}" type="datetime1">
              <a:rPr lang="en-IN" smtClean="0"/>
              <a:t>17-09-2026</a:t>
            </a:fld>
            <a:endParaRPr lang="en-IN"/>
          </a:p>
        </p:txBody>
      </p:sp>
      <p:sp>
        <p:nvSpPr>
          <p:cNvPr id="5" name="Footer Placeholder 4">
            <a:extLst>
              <a:ext uri="{FF2B5EF4-FFF2-40B4-BE49-F238E27FC236}">
                <a16:creationId xmlns:a16="http://schemas.microsoft.com/office/drawing/2014/main" id="{B5A049D0-589B-356A-C132-17EC1259BAA1}"/>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4ADB78BB-28AC-EA14-DC42-29260E08FF3D}"/>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946198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207D0-82DE-FA4A-EADB-1BEC487ABF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8600A5-5C2C-00C3-916A-DF6214BB9F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B2F5CE-74CC-CF22-710E-082B7D801E88}"/>
              </a:ext>
            </a:extLst>
          </p:cNvPr>
          <p:cNvSpPr>
            <a:spLocks noGrp="1"/>
          </p:cNvSpPr>
          <p:nvPr>
            <p:ph type="dt" sz="half" idx="10"/>
          </p:nvPr>
        </p:nvSpPr>
        <p:spPr/>
        <p:txBody>
          <a:bodyPr/>
          <a:lstStyle/>
          <a:p>
            <a:fld id="{456FCEB4-FD16-4B07-9207-FB300F7B14E0}" type="datetime1">
              <a:rPr lang="en-IN" smtClean="0"/>
              <a:t>17-09-2026</a:t>
            </a:fld>
            <a:endParaRPr lang="en-IN"/>
          </a:p>
        </p:txBody>
      </p:sp>
      <p:sp>
        <p:nvSpPr>
          <p:cNvPr id="5" name="Footer Placeholder 4">
            <a:extLst>
              <a:ext uri="{FF2B5EF4-FFF2-40B4-BE49-F238E27FC236}">
                <a16:creationId xmlns:a16="http://schemas.microsoft.com/office/drawing/2014/main" id="{148AAAD5-EBF3-6851-32E4-D4FBA96C1FDB}"/>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05573601-9A03-2F15-2F0A-327D55FFD25C}"/>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1001875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E6E04-DE19-84EF-6EAD-5E68D54F7A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136FCB-7A4F-B695-D2E9-54090A9445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EC53CD-6C00-99BA-5BD0-0E766D3904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DA650DD-602A-CC85-5499-22E0FF3010F3}"/>
              </a:ext>
            </a:extLst>
          </p:cNvPr>
          <p:cNvSpPr>
            <a:spLocks noGrp="1"/>
          </p:cNvSpPr>
          <p:nvPr>
            <p:ph type="dt" sz="half" idx="10"/>
          </p:nvPr>
        </p:nvSpPr>
        <p:spPr/>
        <p:txBody>
          <a:bodyPr/>
          <a:lstStyle/>
          <a:p>
            <a:fld id="{76E49330-105E-4C2D-A945-D7CB0B65AA0D}" type="datetime1">
              <a:rPr lang="en-IN" smtClean="0"/>
              <a:t>17-09-2026</a:t>
            </a:fld>
            <a:endParaRPr lang="en-IN"/>
          </a:p>
        </p:txBody>
      </p:sp>
      <p:sp>
        <p:nvSpPr>
          <p:cNvPr id="6" name="Footer Placeholder 5">
            <a:extLst>
              <a:ext uri="{FF2B5EF4-FFF2-40B4-BE49-F238E27FC236}">
                <a16:creationId xmlns:a16="http://schemas.microsoft.com/office/drawing/2014/main" id="{EB49BBE1-B537-7E2E-C2C4-08845C67D111}"/>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3FF4B757-EF27-F899-BAF4-B18811737387}"/>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179361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A2E0-9C62-08C2-AB3E-B35BC5C5A0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C222F9-75B3-17FE-C283-DD4BECA435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61EB91-21C0-BA49-75C9-60FD0E0EF9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401927-DF5C-9C56-8562-7016E65722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9C59F2-F071-5440-8C46-00C73B7D05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961286-08BE-878F-F428-4DDDD6BC5679}"/>
              </a:ext>
            </a:extLst>
          </p:cNvPr>
          <p:cNvSpPr>
            <a:spLocks noGrp="1"/>
          </p:cNvSpPr>
          <p:nvPr>
            <p:ph type="dt" sz="half" idx="10"/>
          </p:nvPr>
        </p:nvSpPr>
        <p:spPr/>
        <p:txBody>
          <a:bodyPr/>
          <a:lstStyle/>
          <a:p>
            <a:fld id="{B7A2F794-44E1-4BEF-BC28-A1686AB91B35}" type="datetime1">
              <a:rPr lang="en-IN" smtClean="0"/>
              <a:t>17-09-2026</a:t>
            </a:fld>
            <a:endParaRPr lang="en-IN"/>
          </a:p>
        </p:txBody>
      </p:sp>
      <p:sp>
        <p:nvSpPr>
          <p:cNvPr id="8" name="Footer Placeholder 7">
            <a:extLst>
              <a:ext uri="{FF2B5EF4-FFF2-40B4-BE49-F238E27FC236}">
                <a16:creationId xmlns:a16="http://schemas.microsoft.com/office/drawing/2014/main" id="{811F68E0-6F17-B4CD-53C3-DFC164696B83}"/>
              </a:ext>
            </a:extLst>
          </p:cNvPr>
          <p:cNvSpPr>
            <a:spLocks noGrp="1"/>
          </p:cNvSpPr>
          <p:nvPr>
            <p:ph type="ftr" sz="quarter" idx="11"/>
          </p:nvPr>
        </p:nvSpPr>
        <p:spPr/>
        <p:txBody>
          <a:bodyPr/>
          <a:lstStyle/>
          <a:p>
            <a:r>
              <a:rPr lang="en-IN"/>
              <a:t>VVIT @ Dept. CSM</a:t>
            </a:r>
          </a:p>
        </p:txBody>
      </p:sp>
      <p:sp>
        <p:nvSpPr>
          <p:cNvPr id="9" name="Slide Number Placeholder 8">
            <a:extLst>
              <a:ext uri="{FF2B5EF4-FFF2-40B4-BE49-F238E27FC236}">
                <a16:creationId xmlns:a16="http://schemas.microsoft.com/office/drawing/2014/main" id="{41AC4CBA-01B5-C2C4-5335-B4EB35E5A07A}"/>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1242339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03B32-7417-39CF-B839-3EEB29A1C4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6A2FE7-36B6-6E9C-5856-38F958DDB604}"/>
              </a:ext>
            </a:extLst>
          </p:cNvPr>
          <p:cNvSpPr>
            <a:spLocks noGrp="1"/>
          </p:cNvSpPr>
          <p:nvPr>
            <p:ph type="dt" sz="half" idx="10"/>
          </p:nvPr>
        </p:nvSpPr>
        <p:spPr/>
        <p:txBody>
          <a:bodyPr/>
          <a:lstStyle/>
          <a:p>
            <a:fld id="{D43309A1-C81B-427D-BCEA-27B741B28E1A}" type="datetime1">
              <a:rPr lang="en-IN" smtClean="0"/>
              <a:t>17-09-2026</a:t>
            </a:fld>
            <a:endParaRPr lang="en-IN"/>
          </a:p>
        </p:txBody>
      </p:sp>
      <p:sp>
        <p:nvSpPr>
          <p:cNvPr id="4" name="Footer Placeholder 3">
            <a:extLst>
              <a:ext uri="{FF2B5EF4-FFF2-40B4-BE49-F238E27FC236}">
                <a16:creationId xmlns:a16="http://schemas.microsoft.com/office/drawing/2014/main" id="{BDE31B30-D694-3C06-A324-C1D899945598}"/>
              </a:ext>
            </a:extLst>
          </p:cNvPr>
          <p:cNvSpPr>
            <a:spLocks noGrp="1"/>
          </p:cNvSpPr>
          <p:nvPr>
            <p:ph type="ftr" sz="quarter" idx="11"/>
          </p:nvPr>
        </p:nvSpPr>
        <p:spPr/>
        <p:txBody>
          <a:bodyPr/>
          <a:lstStyle/>
          <a:p>
            <a:r>
              <a:rPr lang="en-IN"/>
              <a:t>VVIT @ Dept. CSM</a:t>
            </a:r>
          </a:p>
        </p:txBody>
      </p:sp>
      <p:sp>
        <p:nvSpPr>
          <p:cNvPr id="5" name="Slide Number Placeholder 4">
            <a:extLst>
              <a:ext uri="{FF2B5EF4-FFF2-40B4-BE49-F238E27FC236}">
                <a16:creationId xmlns:a16="http://schemas.microsoft.com/office/drawing/2014/main" id="{291F9968-5814-8F57-EE5C-05F51ABB341A}"/>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4012534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244DA-A9F6-ED5C-2118-0A44894C883C}"/>
              </a:ext>
            </a:extLst>
          </p:cNvPr>
          <p:cNvSpPr>
            <a:spLocks noGrp="1"/>
          </p:cNvSpPr>
          <p:nvPr>
            <p:ph type="dt" sz="half" idx="10"/>
          </p:nvPr>
        </p:nvSpPr>
        <p:spPr/>
        <p:txBody>
          <a:bodyPr/>
          <a:lstStyle/>
          <a:p>
            <a:fld id="{3D6757F5-B3DD-41B2-8AD1-E2C7F01E8325}" type="datetime1">
              <a:rPr lang="en-IN" smtClean="0"/>
              <a:t>17-09-2026</a:t>
            </a:fld>
            <a:endParaRPr lang="en-IN"/>
          </a:p>
        </p:txBody>
      </p:sp>
      <p:sp>
        <p:nvSpPr>
          <p:cNvPr id="3" name="Footer Placeholder 2">
            <a:extLst>
              <a:ext uri="{FF2B5EF4-FFF2-40B4-BE49-F238E27FC236}">
                <a16:creationId xmlns:a16="http://schemas.microsoft.com/office/drawing/2014/main" id="{C7500EC8-C1AB-B577-EA4E-7D2E7D7F1C35}"/>
              </a:ext>
            </a:extLst>
          </p:cNvPr>
          <p:cNvSpPr>
            <a:spLocks noGrp="1"/>
          </p:cNvSpPr>
          <p:nvPr>
            <p:ph type="ftr" sz="quarter" idx="11"/>
          </p:nvPr>
        </p:nvSpPr>
        <p:spPr/>
        <p:txBody>
          <a:bodyPr/>
          <a:lstStyle/>
          <a:p>
            <a:r>
              <a:rPr lang="en-IN"/>
              <a:t>VVIT @ Dept. CSM</a:t>
            </a:r>
          </a:p>
        </p:txBody>
      </p:sp>
      <p:sp>
        <p:nvSpPr>
          <p:cNvPr id="4" name="Slide Number Placeholder 3">
            <a:extLst>
              <a:ext uri="{FF2B5EF4-FFF2-40B4-BE49-F238E27FC236}">
                <a16:creationId xmlns:a16="http://schemas.microsoft.com/office/drawing/2014/main" id="{0B839834-7C1C-DD95-00F7-1046CC02C973}"/>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29420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0408B-6746-EBBF-A1B8-482E0D54EF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DA8A51-0194-E201-F62E-7028F44903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ADF6D2-0007-C8C6-5E66-A73252FA51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D9C60F-EE63-63C0-A3C9-201A1DEB63F4}"/>
              </a:ext>
            </a:extLst>
          </p:cNvPr>
          <p:cNvSpPr>
            <a:spLocks noGrp="1"/>
          </p:cNvSpPr>
          <p:nvPr>
            <p:ph type="dt" sz="half" idx="10"/>
          </p:nvPr>
        </p:nvSpPr>
        <p:spPr/>
        <p:txBody>
          <a:bodyPr/>
          <a:lstStyle/>
          <a:p>
            <a:fld id="{32632F12-6279-426C-8A42-8E638B69DA5E}" type="datetime1">
              <a:rPr lang="en-IN" smtClean="0"/>
              <a:t>17-09-2026</a:t>
            </a:fld>
            <a:endParaRPr lang="en-IN"/>
          </a:p>
        </p:txBody>
      </p:sp>
      <p:sp>
        <p:nvSpPr>
          <p:cNvPr id="6" name="Footer Placeholder 5">
            <a:extLst>
              <a:ext uri="{FF2B5EF4-FFF2-40B4-BE49-F238E27FC236}">
                <a16:creationId xmlns:a16="http://schemas.microsoft.com/office/drawing/2014/main" id="{71E88CB9-B2B4-DD3C-DF42-5FF8C80C0643}"/>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5B5FCC53-DC75-9AFB-03C5-B065AC50C19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4045669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14FA-37B6-93A5-E0E8-E926B53682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80E05A2-0EA7-C30C-EFFA-E0B149436A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B07175-07C8-0612-615D-57BF8C0741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36AA1-2BD7-CB7C-1AA4-34D02985A83E}"/>
              </a:ext>
            </a:extLst>
          </p:cNvPr>
          <p:cNvSpPr>
            <a:spLocks noGrp="1"/>
          </p:cNvSpPr>
          <p:nvPr>
            <p:ph type="dt" sz="half" idx="10"/>
          </p:nvPr>
        </p:nvSpPr>
        <p:spPr/>
        <p:txBody>
          <a:bodyPr/>
          <a:lstStyle/>
          <a:p>
            <a:fld id="{2ABB4110-22B7-47D9-9F58-54C5B302AF6D}" type="datetime1">
              <a:rPr lang="en-IN" smtClean="0"/>
              <a:t>17-09-2026</a:t>
            </a:fld>
            <a:endParaRPr lang="en-IN"/>
          </a:p>
        </p:txBody>
      </p:sp>
      <p:sp>
        <p:nvSpPr>
          <p:cNvPr id="6" name="Footer Placeholder 5">
            <a:extLst>
              <a:ext uri="{FF2B5EF4-FFF2-40B4-BE49-F238E27FC236}">
                <a16:creationId xmlns:a16="http://schemas.microsoft.com/office/drawing/2014/main" id="{37CC2950-CA0B-091E-E2BA-A60E75FD6138}"/>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EB068AF4-0554-5223-D39A-DA1DC68D03CE}"/>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176639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9AE2-374C-4EF3-9532-31D0CE1D4F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D2E305-5684-04F7-337B-C867ECD394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744A89-E93B-DDA0-25FF-C2242EE97D80}"/>
              </a:ext>
            </a:extLst>
          </p:cNvPr>
          <p:cNvSpPr>
            <a:spLocks noGrp="1"/>
          </p:cNvSpPr>
          <p:nvPr>
            <p:ph type="dt" sz="half" idx="10"/>
          </p:nvPr>
        </p:nvSpPr>
        <p:spPr/>
        <p:txBody>
          <a:bodyPr/>
          <a:lstStyle/>
          <a:p>
            <a:fld id="{80575400-B1DF-4AF6-AB50-CBCE8962669C}" type="datetime1">
              <a:rPr lang="en-IN" smtClean="0"/>
              <a:t>17-09-2026</a:t>
            </a:fld>
            <a:endParaRPr lang="en-IN"/>
          </a:p>
        </p:txBody>
      </p:sp>
      <p:sp>
        <p:nvSpPr>
          <p:cNvPr id="5" name="Footer Placeholder 4">
            <a:extLst>
              <a:ext uri="{FF2B5EF4-FFF2-40B4-BE49-F238E27FC236}">
                <a16:creationId xmlns:a16="http://schemas.microsoft.com/office/drawing/2014/main" id="{CBDDB2AC-EE20-661D-48EC-09C572C9F8E2}"/>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9DA2A3F4-0238-70CC-420E-0F280FECAE9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621956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A41AF6-9AAD-E282-9DDD-E66CF88ADC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CF3A46-D4B7-3837-9A94-A663DE2A25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B33946-DFAA-48C8-71CA-3B2501710AE7}"/>
              </a:ext>
            </a:extLst>
          </p:cNvPr>
          <p:cNvSpPr>
            <a:spLocks noGrp="1"/>
          </p:cNvSpPr>
          <p:nvPr>
            <p:ph type="dt" sz="half" idx="10"/>
          </p:nvPr>
        </p:nvSpPr>
        <p:spPr/>
        <p:txBody>
          <a:bodyPr/>
          <a:lstStyle/>
          <a:p>
            <a:fld id="{E8A8D284-3CDB-49DE-A927-05878722C64F}" type="datetime1">
              <a:rPr lang="en-IN" smtClean="0"/>
              <a:t>17-09-2026</a:t>
            </a:fld>
            <a:endParaRPr lang="en-IN"/>
          </a:p>
        </p:txBody>
      </p:sp>
      <p:sp>
        <p:nvSpPr>
          <p:cNvPr id="5" name="Footer Placeholder 4">
            <a:extLst>
              <a:ext uri="{FF2B5EF4-FFF2-40B4-BE49-F238E27FC236}">
                <a16:creationId xmlns:a16="http://schemas.microsoft.com/office/drawing/2014/main" id="{437106D7-F25C-47BB-2611-089736A84EF9}"/>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9FE811E5-1590-562C-784B-5F2A1B3D365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585821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EF6F91-B629-DA42-57EF-31DA782B6B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ECB1-08ED-AF18-FDF8-8FE7F9F7D6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CC7C5D-06B8-2007-9878-FF4B74A5DC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2B7110-61B4-45BA-A110-4FCE83D5E720}" type="datetime1">
              <a:rPr lang="en-IN" smtClean="0"/>
              <a:t>17-09-2026</a:t>
            </a:fld>
            <a:endParaRPr lang="en-IN"/>
          </a:p>
        </p:txBody>
      </p:sp>
      <p:sp>
        <p:nvSpPr>
          <p:cNvPr id="5" name="Footer Placeholder 4">
            <a:extLst>
              <a:ext uri="{FF2B5EF4-FFF2-40B4-BE49-F238E27FC236}">
                <a16:creationId xmlns:a16="http://schemas.microsoft.com/office/drawing/2014/main" id="{0638ADC9-EB89-D372-7DE5-F164AC424E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VVIT @ Dept. CSM</a:t>
            </a:r>
          </a:p>
        </p:txBody>
      </p:sp>
      <p:sp>
        <p:nvSpPr>
          <p:cNvPr id="6" name="Slide Number Placeholder 5">
            <a:extLst>
              <a:ext uri="{FF2B5EF4-FFF2-40B4-BE49-F238E27FC236}">
                <a16:creationId xmlns:a16="http://schemas.microsoft.com/office/drawing/2014/main" id="{454E92DD-B99B-9C26-E756-4CB70ABD4D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06A4E2-163B-4ABA-8562-AD05AC3F17C5}" type="slidenum">
              <a:rPr lang="en-IN" smtClean="0"/>
              <a:t>‹#›</a:t>
            </a:fld>
            <a:endParaRPr lang="en-IN"/>
          </a:p>
        </p:txBody>
      </p:sp>
    </p:spTree>
    <p:extLst>
      <p:ext uri="{BB962C8B-B14F-4D97-AF65-F5344CB8AC3E}">
        <p14:creationId xmlns:p14="http://schemas.microsoft.com/office/powerpoint/2010/main" val="21667263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B1A8B0-3C3E-4DAC-946D-F1A2452D5558}" type="datetime1">
              <a:rPr lang="en-IN" smtClean="0">
                <a:solidFill>
                  <a:srgbClr val="E77E69"/>
                </a:solidFill>
              </a:rPr>
              <a:t>17-09-2026</a:t>
            </a:fld>
            <a:endParaRPr lang="en-IN" dirty="0">
              <a:solidFill>
                <a:srgbClr val="E77E69"/>
              </a:solidFill>
            </a:endParaRPr>
          </a:p>
        </p:txBody>
      </p:sp>
      <p:sp>
        <p:nvSpPr>
          <p:cNvPr id="4" name="Slide Number Placeholder 3"/>
          <p:cNvSpPr>
            <a:spLocks noGrp="1"/>
          </p:cNvSpPr>
          <p:nvPr>
            <p:ph type="sldNum" sz="quarter" idx="12"/>
          </p:nvPr>
        </p:nvSpPr>
        <p:spPr/>
        <p:txBody>
          <a:bodyPr/>
          <a:lstStyle/>
          <a:p>
            <a:fld id="{0F06A4E2-163B-4ABA-8562-AD05AC3F17C5}" type="slidenum">
              <a:rPr lang="en-IN" smtClean="0">
                <a:solidFill>
                  <a:srgbClr val="E77E69"/>
                </a:solidFill>
              </a:rPr>
              <a:t>1</a:t>
            </a:fld>
            <a:endParaRPr lang="en-IN" dirty="0">
              <a:solidFill>
                <a:srgbClr val="E77E69"/>
              </a:solidFill>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8880" y="223842"/>
            <a:ext cx="2174240" cy="1517438"/>
          </a:xfrm>
          <a:prstGeom prst="rect">
            <a:avLst/>
          </a:prstGeom>
        </p:spPr>
      </p:pic>
      <p:sp>
        <p:nvSpPr>
          <p:cNvPr id="6" name="TextBox 5"/>
          <p:cNvSpPr txBox="1"/>
          <p:nvPr/>
        </p:nvSpPr>
        <p:spPr>
          <a:xfrm>
            <a:off x="1184698" y="1714110"/>
            <a:ext cx="9822608" cy="954107"/>
          </a:xfrm>
          <a:prstGeom prst="rect">
            <a:avLst/>
          </a:prstGeom>
          <a:noFill/>
        </p:spPr>
        <p:txBody>
          <a:bodyPr wrap="square" rtlCol="0">
            <a:spAutoFit/>
          </a:bodyPr>
          <a:lstStyle/>
          <a:p>
            <a:pPr algn="ctr"/>
            <a:r>
              <a:rPr lang="en-US" altLang="en-US" sz="2800" dirty="0">
                <a:latin typeface="Times New Roman" panose="02020603050405020304" pitchFamily="18" charset="0"/>
                <a:cs typeface="Times New Roman" panose="02020603050405020304" pitchFamily="18" charset="0"/>
              </a:rPr>
              <a:t>Adaptive Interview Intelligence Platform Using Multi-Agent AI and Retrieval-Augmented Generation. </a:t>
            </a:r>
          </a:p>
        </p:txBody>
      </p:sp>
      <p:sp>
        <p:nvSpPr>
          <p:cNvPr id="7" name="TextBox 6"/>
          <p:cNvSpPr txBox="1"/>
          <p:nvPr/>
        </p:nvSpPr>
        <p:spPr>
          <a:xfrm>
            <a:off x="4864925" y="2751597"/>
            <a:ext cx="2531462" cy="369332"/>
          </a:xfrm>
          <a:prstGeom prst="rect">
            <a:avLst/>
          </a:prstGeom>
          <a:noFill/>
        </p:spPr>
        <p:txBody>
          <a:bodyPr wrap="none" rtlCol="0">
            <a:spAutoFit/>
          </a:bodyPr>
          <a:lstStyle/>
          <a:p>
            <a:r>
              <a:rPr lang="en-IN" dirty="0">
                <a:solidFill>
                  <a:srgbClr val="E77E69"/>
                </a:solidFill>
                <a:latin typeface="Times New Roman" panose="02020603050405020304" pitchFamily="18" charset="0"/>
                <a:cs typeface="Times New Roman" panose="02020603050405020304" pitchFamily="18" charset="0"/>
              </a:rPr>
              <a:t>Major Project Review - 1</a:t>
            </a:r>
          </a:p>
        </p:txBody>
      </p:sp>
      <p:sp>
        <p:nvSpPr>
          <p:cNvPr id="8" name="TextBox 7"/>
          <p:cNvSpPr txBox="1"/>
          <p:nvPr/>
        </p:nvSpPr>
        <p:spPr>
          <a:xfrm>
            <a:off x="4968094" y="3102396"/>
            <a:ext cx="2255810"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Batch ID: </a:t>
            </a:r>
            <a:r>
              <a:rPr lang="en-US" altLang="en-IN" dirty="0">
                <a:latin typeface="Times New Roman" panose="02020603050405020304" pitchFamily="18" charset="0"/>
                <a:cs typeface="Times New Roman" panose="02020603050405020304" pitchFamily="18" charset="0"/>
              </a:rPr>
              <a:t>AIML</a:t>
            </a:r>
            <a:r>
              <a:rPr lang="en-IN" dirty="0">
                <a:latin typeface="Times New Roman" panose="02020603050405020304" pitchFamily="18" charset="0"/>
                <a:cs typeface="Times New Roman" panose="02020603050405020304" pitchFamily="18" charset="0"/>
              </a:rPr>
              <a:t>-A</a:t>
            </a:r>
            <a:r>
              <a:rPr lang="en-US" altLang="en-IN" dirty="0">
                <a:latin typeface="Times New Roman" panose="02020603050405020304" pitchFamily="18" charset="0"/>
                <a:cs typeface="Times New Roman" panose="02020603050405020304" pitchFamily="18" charset="0"/>
              </a:rPr>
              <a:t>10</a:t>
            </a:r>
            <a:r>
              <a:rPr lang="en-IN" dirty="0">
                <a:latin typeface="Times New Roman" panose="02020603050405020304" pitchFamily="18" charset="0"/>
                <a:cs typeface="Times New Roman" panose="02020603050405020304" pitchFamily="18" charset="0"/>
              </a:rPr>
              <a:t> </a:t>
            </a:r>
          </a:p>
        </p:txBody>
      </p:sp>
      <p:sp>
        <p:nvSpPr>
          <p:cNvPr id="9" name="TextBox 8"/>
          <p:cNvSpPr txBox="1"/>
          <p:nvPr/>
        </p:nvSpPr>
        <p:spPr>
          <a:xfrm>
            <a:off x="511514" y="4820724"/>
            <a:ext cx="3396571" cy="646331"/>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Mrs.</a:t>
            </a:r>
            <a:r>
              <a:rPr lang="en-US" altLang="en-US" dirty="0">
                <a:latin typeface="Times New Roman" panose="02020603050405020304" pitchFamily="18" charset="0"/>
                <a:cs typeface="Times New Roman" panose="02020603050405020304" pitchFamily="18" charset="0"/>
              </a:rPr>
              <a:t>V. Asha Jyothi </a:t>
            </a:r>
          </a:p>
          <a:p>
            <a:pPr algn="ctr"/>
            <a:r>
              <a:rPr lang="en-US" altLang="en-IN" dirty="0" err="1">
                <a:latin typeface="Times New Roman" panose="02020603050405020304" pitchFamily="18" charset="0"/>
                <a:cs typeface="Times New Roman" panose="02020603050405020304" pitchFamily="18" charset="0"/>
              </a:rPr>
              <a:t>Asssistant</a:t>
            </a:r>
            <a:r>
              <a:rPr lang="en-US" alt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Professor, </a:t>
            </a:r>
            <a:r>
              <a:rPr lang="en-US" altLang="en-IN" dirty="0">
                <a:latin typeface="Times New Roman" panose="02020603050405020304" pitchFamily="18" charset="0"/>
                <a:cs typeface="Times New Roman" panose="02020603050405020304" pitchFamily="18" charset="0"/>
              </a:rPr>
              <a:t>AIML</a:t>
            </a:r>
            <a:r>
              <a:rPr lang="en-IN" dirty="0">
                <a:latin typeface="Times New Roman" panose="02020603050405020304" pitchFamily="18" charset="0"/>
                <a:cs typeface="Times New Roman" panose="02020603050405020304" pitchFamily="18" charset="0"/>
              </a:rPr>
              <a:t>, VVIT</a:t>
            </a:r>
          </a:p>
        </p:txBody>
      </p:sp>
      <p:sp>
        <p:nvSpPr>
          <p:cNvPr id="10" name="TextBox 9"/>
          <p:cNvSpPr txBox="1"/>
          <p:nvPr/>
        </p:nvSpPr>
        <p:spPr>
          <a:xfrm>
            <a:off x="6705657" y="4301791"/>
            <a:ext cx="2608535"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Batch Members</a:t>
            </a:r>
          </a:p>
        </p:txBody>
      </p:sp>
      <p:sp>
        <p:nvSpPr>
          <p:cNvPr id="12" name="TextBox 11"/>
          <p:cNvSpPr txBox="1"/>
          <p:nvPr/>
        </p:nvSpPr>
        <p:spPr>
          <a:xfrm>
            <a:off x="4774890" y="4894325"/>
            <a:ext cx="3235035" cy="646331"/>
          </a:xfrm>
          <a:prstGeom prst="rect">
            <a:avLst/>
          </a:prstGeom>
          <a:noFill/>
        </p:spPr>
        <p:txBody>
          <a:bodyPr wrap="square" rtlCol="0">
            <a:spAutoFit/>
          </a:bodyPr>
          <a:lstStyle/>
          <a:p>
            <a:r>
              <a:rPr lang="en-US" altLang="en-US" dirty="0"/>
              <a:t>E. ARUN KUMAR </a:t>
            </a:r>
            <a:r>
              <a:rPr lang="en-IN" dirty="0"/>
              <a:t> – </a:t>
            </a:r>
            <a:r>
              <a:rPr lang="en-US" altLang="en-US" dirty="0"/>
              <a:t>24BQ5A6103</a:t>
            </a:r>
            <a:endParaRPr lang="en-IN" dirty="0"/>
          </a:p>
          <a:p>
            <a:r>
              <a:rPr lang="en-US" altLang="en-US" dirty="0"/>
              <a:t>CH. TEJASWINI    </a:t>
            </a:r>
            <a:r>
              <a:rPr lang="en-IN" dirty="0"/>
              <a:t> –</a:t>
            </a:r>
            <a:r>
              <a:rPr lang="en-US" altLang="en-US" dirty="0"/>
              <a:t>23BQ1A6122</a:t>
            </a:r>
          </a:p>
        </p:txBody>
      </p:sp>
      <p:sp>
        <p:nvSpPr>
          <p:cNvPr id="13" name="TextBox 12"/>
          <p:cNvSpPr txBox="1"/>
          <p:nvPr/>
        </p:nvSpPr>
        <p:spPr>
          <a:xfrm>
            <a:off x="8114070" y="4876675"/>
            <a:ext cx="4114799" cy="646331"/>
          </a:xfrm>
          <a:prstGeom prst="rect">
            <a:avLst/>
          </a:prstGeom>
          <a:noFill/>
        </p:spPr>
        <p:txBody>
          <a:bodyPr wrap="square" rtlCol="0">
            <a:spAutoFit/>
          </a:bodyPr>
          <a:lstStyle/>
          <a:p>
            <a:r>
              <a:rPr lang="en-US" altLang="en-US" dirty="0"/>
              <a:t>K. NAGA SUDHA LAKSHMI</a:t>
            </a:r>
            <a:r>
              <a:rPr lang="en-IN" dirty="0"/>
              <a:t> –</a:t>
            </a:r>
            <a:r>
              <a:rPr lang="en-US" altLang="en-US" dirty="0"/>
              <a:t>23BQ1A6150</a:t>
            </a:r>
            <a:endParaRPr lang="en-IN" dirty="0"/>
          </a:p>
          <a:p>
            <a:r>
              <a:rPr lang="en-US" altLang="en-US" dirty="0"/>
              <a:t>B. HARSHITHA                      </a:t>
            </a:r>
            <a:r>
              <a:rPr lang="en-IN" dirty="0"/>
              <a:t>– </a:t>
            </a:r>
            <a:r>
              <a:rPr lang="en-US" altLang="en-US" dirty="0"/>
              <a:t>23BQ1A6105</a:t>
            </a:r>
          </a:p>
        </p:txBody>
      </p:sp>
      <p:sp>
        <p:nvSpPr>
          <p:cNvPr id="14" name="TextBox 13"/>
          <p:cNvSpPr txBox="1"/>
          <p:nvPr/>
        </p:nvSpPr>
        <p:spPr>
          <a:xfrm>
            <a:off x="1184698" y="4321452"/>
            <a:ext cx="1619482"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Guide</a:t>
            </a:r>
          </a:p>
        </p:txBody>
      </p:sp>
      <p:sp>
        <p:nvSpPr>
          <p:cNvPr id="15"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rgbClr val="E77E32"/>
                </a:solidFill>
              </a:rPr>
              <a:t>Dept. CSM @ VVIT</a:t>
            </a:r>
          </a:p>
        </p:txBody>
      </p:sp>
    </p:spTree>
    <p:extLst>
      <p:ext uri="{BB962C8B-B14F-4D97-AF65-F5344CB8AC3E}">
        <p14:creationId xmlns:p14="http://schemas.microsoft.com/office/powerpoint/2010/main" val="501989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2"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11920141" cy="5940088"/>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Problem Statement: </a:t>
            </a:r>
          </a:p>
          <a:p>
            <a:r>
              <a:rPr lang="en-IN" sz="2000" dirty="0"/>
              <a:t>The recruitment process is increasingly competitive, requiring strong technical, communication, and problem-solving skills. However, job seekers lack access to personalized preparation and actionable feedback. Existing platforms—such as </a:t>
            </a:r>
            <a:r>
              <a:rPr lang="en-IN" sz="2000" i="1" dirty="0"/>
              <a:t>Interview Warmup by Google</a:t>
            </a:r>
            <a:r>
              <a:rPr lang="en-IN" sz="2000" dirty="0"/>
              <a:t>, </a:t>
            </a:r>
            <a:r>
              <a:rPr lang="en-IN" sz="2000" i="1" dirty="0" err="1"/>
              <a:t>Pramp</a:t>
            </a:r>
            <a:r>
              <a:rPr lang="en-IN" sz="2000" dirty="0"/>
              <a:t>, </a:t>
            </a:r>
            <a:r>
              <a:rPr lang="en-IN" sz="2000" i="1" dirty="0"/>
              <a:t>Interviewing.io</a:t>
            </a:r>
            <a:r>
              <a:rPr lang="en-IN" sz="2000" dirty="0"/>
              <a:t>, and </a:t>
            </a:r>
            <a:r>
              <a:rPr lang="en-IN" sz="2000" i="1" dirty="0" err="1"/>
              <a:t>LeetCode</a:t>
            </a:r>
            <a:r>
              <a:rPr lang="en-IN" sz="2000" dirty="0"/>
              <a:t>—rely on static, generic practice sessions that fail to adapt to individual skills, learning progress, or specific job roles. Furthermore, standard AI approaches lack explainable feedback and are prone to hallucinations, preventing candidates from effectively addressing their weaknesses.</a:t>
            </a:r>
          </a:p>
          <a:p>
            <a:r>
              <a:rPr lang="en-IN" sz="2000" dirty="0"/>
              <a:t>To address these challenges, this project presents the </a:t>
            </a:r>
            <a:r>
              <a:rPr lang="en-IN" sz="2000" b="1" dirty="0"/>
              <a:t>Adaptive Interview Intelligence Platform Using Multi-Agent AI and Retrieval-Augmented Generation (RAG)</a:t>
            </a:r>
            <a:r>
              <a:rPr lang="en-IN" sz="2000" dirty="0"/>
              <a:t>. The platform deploys specialized AI agents to handle resume analysis, dynamic question generation, candidate evaluation, knowledge retrieval, study recommendations, and analytics. Integrating RAG ensures questions and feedback are grounded in trusted domain knowledge to eliminate hallucinations, while an adaptive engine dynamically adjusts question difficulty based on real-time performance.</a:t>
            </a:r>
          </a:p>
          <a:p>
            <a:r>
              <a:rPr lang="en-IN" sz="2000" dirty="0"/>
              <a:t>The web-based platform supports technical and HR mock interviews, explainable scoring, and personalized learning pathways. Designed strictly as a preparation tool for job seekers, academic institutions, and recruiters, it does not replace human hiring decisions. The project aims to bridge the gap between static preparation and intelligent AI learning, with success measured by evaluation accuracy, user satisfaction, and enabling at least 90% of users to complete tailored preparation independently.</a:t>
            </a:r>
          </a:p>
          <a:p>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0EC79EE-C1C4-E275-0987-67B7B3A60CCB}"/>
              </a:ext>
            </a:extLst>
          </p:cNvPr>
          <p:cNvSpPr txBox="1"/>
          <p:nvPr/>
        </p:nvSpPr>
        <p:spPr>
          <a:xfrm>
            <a:off x="8423564" y="31393"/>
            <a:ext cx="3679945"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097805" y="82617"/>
            <a:ext cx="7131796"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449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3</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114072" y="31393"/>
            <a:ext cx="3989438"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439014"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1169551"/>
          </a:xfrm>
          <a:prstGeom prst="rect">
            <a:avLst/>
          </a:prstGeom>
        </p:spPr>
        <p:txBody>
          <a:bodyPr wrap="square">
            <a:spAutoFit/>
          </a:bodyPr>
          <a:lstStyle/>
          <a:p>
            <a:r>
              <a:rPr lang="en-US" sz="1400" b="1" dirty="0"/>
              <a:t>Ref 01 – </a:t>
            </a:r>
            <a:r>
              <a:rPr lang="en-IN" sz="1400" dirty="0"/>
              <a:t>Experience as a Compass: Multi-agent RAG with Evolving</a:t>
            </a:r>
          </a:p>
          <a:p>
            <a:r>
              <a:rPr lang="en-IN" sz="1400" dirty="0"/>
              <a:t>Orchestration and Agent Prompts</a:t>
            </a:r>
          </a:p>
          <a:p>
            <a:r>
              <a:rPr lang="en-IN" sz="1400" b="1" dirty="0"/>
              <a:t>Sha Li</a:t>
            </a:r>
            <a:r>
              <a:rPr lang="en-IN" sz="1400" dirty="0"/>
              <a:t> and </a:t>
            </a:r>
            <a:r>
              <a:rPr lang="en-IN" sz="1400" b="1" dirty="0"/>
              <a:t>Naren Ramakrishnan</a:t>
            </a:r>
            <a:r>
              <a:rPr lang="en-IN" sz="1400" dirty="0"/>
              <a:t> from </a:t>
            </a:r>
            <a:r>
              <a:rPr lang="en-IN" sz="1400" b="1" dirty="0"/>
              <a:t>Virginia Tech</a:t>
            </a:r>
            <a:r>
              <a:rPr lang="en-IN" sz="1400" dirty="0"/>
              <a:t>. </a:t>
            </a:r>
            <a:r>
              <a:rPr lang="en-IN" sz="1400" b="1" dirty="0"/>
              <a:t>2026</a:t>
            </a:r>
            <a:endParaRPr lang="en-IN" sz="1400" dirty="0"/>
          </a:p>
          <a:p>
            <a:br>
              <a:rPr lang="en-US" sz="1400" dirty="0"/>
            </a:br>
            <a:endParaRPr lang="en-IN" sz="1400" dirty="0"/>
          </a:p>
        </p:txBody>
      </p:sp>
      <p:sp>
        <p:nvSpPr>
          <p:cNvPr id="8" name="TextBox 7">
            <a:extLst>
              <a:ext uri="{FF2B5EF4-FFF2-40B4-BE49-F238E27FC236}">
                <a16:creationId xmlns:a16="http://schemas.microsoft.com/office/drawing/2014/main" id="{9AD6DFE2-F196-1B65-7B81-04C3C4514143}"/>
              </a:ext>
            </a:extLst>
          </p:cNvPr>
          <p:cNvSpPr txBox="1"/>
          <p:nvPr/>
        </p:nvSpPr>
        <p:spPr>
          <a:xfrm>
            <a:off x="277091" y="1683506"/>
            <a:ext cx="11778977" cy="3139321"/>
          </a:xfrm>
          <a:prstGeom prst="rect">
            <a:avLst/>
          </a:prstGeom>
          <a:noFill/>
        </p:spPr>
        <p:txBody>
          <a:bodyPr wrap="square" rtlCol="0">
            <a:spAutoFit/>
          </a:bodyPr>
          <a:lstStyle/>
          <a:p>
            <a:r>
              <a:rPr lang="en-IN" b="1" dirty="0"/>
              <a:t>1. Hierarchical Architecture</a:t>
            </a:r>
            <a:endParaRPr lang="en-IN" dirty="0"/>
          </a:p>
          <a:p>
            <a:pPr lvl="0"/>
            <a:r>
              <a:rPr lang="en-IN" b="1" dirty="0"/>
              <a:t>Global Orchestrator:</a:t>
            </a:r>
            <a:r>
              <a:rPr lang="en-IN" dirty="0"/>
              <a:t> Manages top-level multi-agent workflow and dynamic topology selection.</a:t>
            </a:r>
          </a:p>
          <a:p>
            <a:pPr lvl="0"/>
            <a:r>
              <a:rPr lang="en-IN" b="1" dirty="0"/>
              <a:t>Local Specialized Agents:</a:t>
            </a:r>
            <a:r>
              <a:rPr lang="en-IN" dirty="0"/>
              <a:t> Execute domain-specific reasoning and task steps.</a:t>
            </a:r>
          </a:p>
          <a:p>
            <a:r>
              <a:rPr lang="en-IN" b="1" dirty="0"/>
              <a:t>2. Dynamic Pipeline Optimization</a:t>
            </a:r>
            <a:endParaRPr lang="en-IN" dirty="0"/>
          </a:p>
          <a:p>
            <a:pPr lvl="0"/>
            <a:r>
              <a:rPr lang="en-IN" b="1" dirty="0"/>
              <a:t>Sequence Sampling:</a:t>
            </a:r>
            <a:r>
              <a:rPr lang="en-IN" dirty="0"/>
              <a:t> Dynamically explores candidate agent execution paths instead of using fixed rules.</a:t>
            </a:r>
          </a:p>
          <a:p>
            <a:pPr lvl="0"/>
            <a:r>
              <a:rPr lang="en-IN" b="1" dirty="0"/>
              <a:t>GRPO-Inspired Reweighting:</a:t>
            </a:r>
            <a:r>
              <a:rPr lang="en-IN" dirty="0"/>
              <a:t> Evaluates pipeline performance based on task accuracy and token cost efficiency.</a:t>
            </a:r>
          </a:p>
          <a:p>
            <a:r>
              <a:rPr lang="en-IN" b="1" dirty="0"/>
              <a:t>3. Evolution &amp; Adaptation Mechanisms</a:t>
            </a:r>
            <a:endParaRPr lang="en-IN" dirty="0"/>
          </a:p>
          <a:p>
            <a:pPr lvl="0"/>
            <a:r>
              <a:rPr lang="en-IN" b="1" dirty="0"/>
              <a:t>Episodic Experience Store:</a:t>
            </a:r>
            <a:r>
              <a:rPr lang="en-IN" dirty="0"/>
              <a:t> Converts execution failures and successes into natural language insights.</a:t>
            </a:r>
          </a:p>
          <a:p>
            <a:pPr lvl="0"/>
            <a:r>
              <a:rPr lang="en-IN" b="1" dirty="0"/>
              <a:t>Role-Aware Prompt Refinement:</a:t>
            </a:r>
            <a:r>
              <a:rPr lang="en-IN" dirty="0"/>
              <a:t> Updates local agent instructions via targeted operational feedback without retraining model weights.</a:t>
            </a:r>
          </a:p>
          <a:p>
            <a:endParaRPr lang="en-IN" dirty="0"/>
          </a:p>
        </p:txBody>
      </p:sp>
    </p:spTree>
    <p:extLst>
      <p:ext uri="{BB962C8B-B14F-4D97-AF65-F5344CB8AC3E}">
        <p14:creationId xmlns:p14="http://schemas.microsoft.com/office/powerpoint/2010/main" val="282606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4</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114072" y="31393"/>
            <a:ext cx="3989438"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822824"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738664"/>
          </a:xfrm>
          <a:prstGeom prst="rect">
            <a:avLst/>
          </a:prstGeom>
        </p:spPr>
        <p:txBody>
          <a:bodyPr wrap="square">
            <a:spAutoFit/>
          </a:bodyPr>
          <a:lstStyle/>
          <a:p>
            <a:r>
              <a:rPr lang="en-US" sz="1400" b="1" dirty="0"/>
              <a:t>Ref 01 – </a:t>
            </a:r>
            <a:r>
              <a:rPr lang="en-IN" sz="1400" dirty="0"/>
              <a:t>Experience as a Compass: Multi-agent RAG with Evolving</a:t>
            </a:r>
          </a:p>
          <a:p>
            <a:r>
              <a:rPr lang="en-IN" sz="1400" dirty="0"/>
              <a:t>Orchestration and Agent Prompts  </a:t>
            </a:r>
            <a:r>
              <a:rPr lang="en-IN" sz="1400" b="1" dirty="0"/>
              <a:t>Sha Li</a:t>
            </a:r>
            <a:r>
              <a:rPr lang="en-IN" sz="1400" dirty="0"/>
              <a:t> and </a:t>
            </a:r>
            <a:r>
              <a:rPr lang="en-IN" sz="1400" b="1" dirty="0"/>
              <a:t>Naren Ramakrishnan</a:t>
            </a:r>
            <a:r>
              <a:rPr lang="en-IN" sz="1400" dirty="0"/>
              <a:t> from </a:t>
            </a:r>
            <a:r>
              <a:rPr lang="en-IN" sz="1400" b="1" dirty="0"/>
              <a:t>Virginia Tech</a:t>
            </a:r>
            <a:r>
              <a:rPr lang="en-IN" sz="1400" dirty="0"/>
              <a:t>. </a:t>
            </a:r>
            <a:r>
              <a:rPr lang="en-IN" sz="1400" b="1" dirty="0"/>
              <a:t>2026</a:t>
            </a:r>
            <a:endParaRPr lang="en-IN" sz="1400" dirty="0"/>
          </a:p>
          <a:p>
            <a:endParaRPr lang="en-IN" sz="1400" dirty="0"/>
          </a:p>
        </p:txBody>
      </p:sp>
      <p:sp>
        <p:nvSpPr>
          <p:cNvPr id="7" name="TextBox 6">
            <a:extLst>
              <a:ext uri="{FF2B5EF4-FFF2-40B4-BE49-F238E27FC236}">
                <a16:creationId xmlns:a16="http://schemas.microsoft.com/office/drawing/2014/main" id="{33D740E8-380A-8262-C399-7B51C09D9E6D}"/>
              </a:ext>
            </a:extLst>
          </p:cNvPr>
          <p:cNvSpPr txBox="1"/>
          <p:nvPr/>
        </p:nvSpPr>
        <p:spPr>
          <a:xfrm>
            <a:off x="290945" y="1849722"/>
            <a:ext cx="11485419" cy="2862322"/>
          </a:xfrm>
          <a:prstGeom prst="rect">
            <a:avLst/>
          </a:prstGeom>
          <a:noFill/>
        </p:spPr>
        <p:txBody>
          <a:bodyPr wrap="square" rtlCol="0">
            <a:spAutoFit/>
          </a:bodyPr>
          <a:lstStyle/>
          <a:p>
            <a:pPr lvl="0"/>
            <a:r>
              <a:rPr lang="en-IN" b="1" dirty="0"/>
              <a:t>Evaluation Datasets (6 QA Benchmarks)</a:t>
            </a:r>
            <a:endParaRPr lang="en-IN" dirty="0"/>
          </a:p>
          <a:p>
            <a:pPr lvl="1"/>
            <a:r>
              <a:rPr lang="en-IN" b="1" dirty="0"/>
              <a:t>Multi-Hop Reasoning:</a:t>
            </a:r>
            <a:r>
              <a:rPr lang="en-IN" dirty="0"/>
              <a:t> </a:t>
            </a:r>
            <a:r>
              <a:rPr lang="en-IN" dirty="0" err="1"/>
              <a:t>HotpotQA</a:t>
            </a:r>
            <a:r>
              <a:rPr lang="en-IN" dirty="0"/>
              <a:t>, 2WikiMultiHopQA, </a:t>
            </a:r>
            <a:r>
              <a:rPr lang="en-IN" dirty="0" err="1"/>
              <a:t>zMuSiQue</a:t>
            </a:r>
            <a:r>
              <a:rPr lang="en-IN" dirty="0"/>
              <a:t> (tests multi-step factual retrieval across multiple documents).</a:t>
            </a:r>
          </a:p>
          <a:p>
            <a:pPr lvl="1"/>
            <a:r>
              <a:rPr lang="en-IN" b="1" dirty="0"/>
              <a:t>Fact Verification &amp; Open QA:</a:t>
            </a:r>
            <a:r>
              <a:rPr lang="en-IN" dirty="0"/>
              <a:t> HoVer, AmbigQA (tests multi-claim checking and ambiguous prompt handling).</a:t>
            </a:r>
          </a:p>
          <a:p>
            <a:pPr lvl="1"/>
            <a:endParaRPr lang="en-IN" dirty="0"/>
          </a:p>
          <a:p>
            <a:pPr lvl="0"/>
            <a:r>
              <a:rPr lang="en-IN" b="1" dirty="0"/>
              <a:t>System Setup &amp; Execution Architecture</a:t>
            </a:r>
            <a:endParaRPr lang="en-IN" dirty="0"/>
          </a:p>
          <a:p>
            <a:pPr lvl="1"/>
            <a:r>
              <a:rPr lang="en-IN" b="1" dirty="0"/>
              <a:t>LLM Foundation:</a:t>
            </a:r>
            <a:r>
              <a:rPr lang="en-IN" dirty="0"/>
              <a:t> Driven by instruction-tuned base models (e.g., Qwen2.5-Coder / GPT-4 class models).</a:t>
            </a:r>
          </a:p>
          <a:p>
            <a:pPr lvl="1"/>
            <a:r>
              <a:rPr lang="en-IN" b="1" dirty="0"/>
              <a:t>Hierarchical Agents:</a:t>
            </a:r>
            <a:r>
              <a:rPr lang="en-IN" dirty="0"/>
              <a:t> Global Orchestrator dynamically routes tasks to specialized execution agents.</a:t>
            </a:r>
          </a:p>
          <a:p>
            <a:pPr lvl="1"/>
            <a:r>
              <a:rPr lang="en-IN" b="1" dirty="0"/>
              <a:t>Parameter-Free Adaptation:</a:t>
            </a:r>
            <a:r>
              <a:rPr lang="en-IN" dirty="0"/>
              <a:t> Refines agent prompts and execution topologies dynamically via natural language reflection and episodic memory—</a:t>
            </a:r>
            <a:r>
              <a:rPr lang="en-IN" b="1" dirty="0"/>
              <a:t>zero weight fine-tuning required</a:t>
            </a:r>
            <a:r>
              <a:rPr lang="en-IN" dirty="0"/>
              <a:t>.</a:t>
            </a:r>
          </a:p>
        </p:txBody>
      </p:sp>
    </p:spTree>
    <p:extLst>
      <p:ext uri="{BB962C8B-B14F-4D97-AF65-F5344CB8AC3E}">
        <p14:creationId xmlns:p14="http://schemas.microsoft.com/office/powerpoint/2010/main" val="3876127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5</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229600" y="31393"/>
            <a:ext cx="3873909"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698133"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01 – </a:t>
            </a:r>
            <a:r>
              <a:rPr lang="en-IN" sz="1400" dirty="0"/>
              <a:t>Experience as a Compass: Multi-agent RAG with Evolving</a:t>
            </a:r>
          </a:p>
          <a:p>
            <a:r>
              <a:rPr lang="en-IN" sz="1400" dirty="0"/>
              <a:t>Orchestration and Agent Prompts  </a:t>
            </a:r>
            <a:r>
              <a:rPr lang="en-IN" sz="1400" b="1" dirty="0"/>
              <a:t>Sha Li</a:t>
            </a:r>
            <a:r>
              <a:rPr lang="en-IN" sz="1400" dirty="0"/>
              <a:t> and </a:t>
            </a:r>
            <a:r>
              <a:rPr lang="en-IN" sz="1400" b="1" dirty="0"/>
              <a:t>Naren Ramakrishnan</a:t>
            </a:r>
            <a:r>
              <a:rPr lang="en-IN" sz="1400" dirty="0"/>
              <a:t> from </a:t>
            </a:r>
            <a:r>
              <a:rPr lang="en-IN" sz="1400" b="1" dirty="0"/>
              <a:t>Virginia Tech</a:t>
            </a:r>
            <a:r>
              <a:rPr lang="en-IN" sz="1400" dirty="0"/>
              <a:t>. </a:t>
            </a:r>
            <a:r>
              <a:rPr lang="en-IN" sz="1400" b="1" dirty="0"/>
              <a:t>2026</a:t>
            </a:r>
            <a:endParaRPr lang="en-IN" sz="14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3AB9C6B-7468-4873-682C-74E67DC9715C}"/>
                  </a:ext>
                </a:extLst>
              </p:cNvPr>
              <p:cNvSpPr txBox="1"/>
              <p:nvPr/>
            </p:nvSpPr>
            <p:spPr>
              <a:xfrm>
                <a:off x="135928" y="1759527"/>
                <a:ext cx="11920141" cy="2862322"/>
              </a:xfrm>
              <a:prstGeom prst="rect">
                <a:avLst/>
              </a:prstGeom>
              <a:noFill/>
            </p:spPr>
            <p:txBody>
              <a:bodyPr wrap="square" rtlCol="0">
                <a:spAutoFit/>
              </a:bodyPr>
              <a:lstStyle/>
              <a:p>
                <a:pPr lvl="0"/>
                <a:r>
                  <a:rPr lang="en-IN" b="1" dirty="0"/>
                  <a:t>+38.69% Average Performance Improvement:</a:t>
                </a:r>
                <a:r>
                  <a:rPr lang="en-IN" dirty="0"/>
                  <a:t> Outperforms recent state-of-the-art agentic RAG baselines across six knowledge-intensive QA benchmarks (e.g., </a:t>
                </a:r>
                <a:r>
                  <a:rPr lang="en-IN" i="1" dirty="0" err="1"/>
                  <a:t>HotpotQA</a:t>
                </a:r>
                <a:r>
                  <a:rPr lang="en-IN" dirty="0"/>
                  <a:t>, </a:t>
                </a:r>
                <a:r>
                  <a:rPr lang="en-IN" i="1" dirty="0"/>
                  <a:t>2WikiMultiHopQA</a:t>
                </a:r>
                <a:r>
                  <a:rPr lang="en-IN" dirty="0"/>
                  <a:t>, </a:t>
                </a:r>
                <a:r>
                  <a:rPr lang="en-IN" i="1" dirty="0"/>
                  <a:t>AmbigQA</a:t>
                </a:r>
                <a:r>
                  <a:rPr lang="en-IN" dirty="0"/>
                  <a:t>).</a:t>
                </a:r>
              </a:p>
              <a:p>
                <a:pPr lvl="0"/>
                <a:r>
                  <a:rPr lang="en-IN" b="1" dirty="0"/>
                  <a:t>Superior Token Efficiency:</a:t>
                </a:r>
                <a:r>
                  <a:rPr lang="en-IN" dirty="0"/>
                  <a:t> Sits on the top-left of the performance–efficiency frontier—achieving higher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𝐹</m:t>
                        </m:r>
                      </m:e>
                      <m:sub>
                        <m:r>
                          <a:rPr lang="en-IN">
                            <a:latin typeface="Cambria Math" panose="02040503050406030204" pitchFamily="18" charset="0"/>
                          </a:rPr>
                          <m:t>1</m:t>
                        </m:r>
                      </m:sub>
                    </m:sSub>
                  </m:oMath>
                </a14:m>
                <a:r>
                  <a:rPr lang="en-IN" dirty="0"/>
                  <a:t>accuracy scores while consuming significantly fewer LLM tokens compared to brute-force multi-agent methods.</a:t>
                </a:r>
              </a:p>
              <a:p>
                <a:pPr lvl="0"/>
                <a:r>
                  <a:rPr lang="en-IN" b="1" dirty="0"/>
                  <a:t>Strong Out-of-Distribution Generalization:</a:t>
                </a:r>
                <a:r>
                  <a:rPr lang="en-IN" dirty="0"/>
                  <a:t> The natural language insights accumulated in its </a:t>
                </a:r>
                <a:r>
                  <a:rPr lang="en-IN" i="1" dirty="0"/>
                  <a:t>Experience Library</a:t>
                </a:r>
                <a:r>
                  <a:rPr lang="en-IN" dirty="0"/>
                  <a:t> transfer effectively to unseen tasks without overfitting, unlike traditional RL-tuned models.</a:t>
                </a:r>
              </a:p>
              <a:p>
                <a:pPr lvl="0"/>
                <a:r>
                  <a:rPr lang="en-IN" b="1" dirty="0"/>
                  <a:t>Ablation Impact:</a:t>
                </a:r>
                <a:endParaRPr lang="en-IN" dirty="0"/>
              </a:p>
              <a:p>
                <a:pPr lvl="1"/>
                <a:r>
                  <a:rPr lang="en-IN" dirty="0"/>
                  <a:t>Removing the </a:t>
                </a:r>
                <a:r>
                  <a:rPr lang="en-IN" b="1" dirty="0"/>
                  <a:t>Experience Library</a:t>
                </a:r>
                <a:r>
                  <a:rPr lang="en-IN" dirty="0"/>
                  <a:t> causes a </a:t>
                </a:r>
                <a:r>
                  <a:rPr lang="en-IN" b="1" dirty="0"/>
                  <a:t>6% to 15% drop</a:t>
                </a:r>
                <a:r>
                  <a:rPr lang="en-IN" dirty="0"/>
                  <a:t> in relative performance.</a:t>
                </a:r>
              </a:p>
              <a:p>
                <a:pPr lvl="1"/>
                <a:r>
                  <a:rPr lang="en-IN" dirty="0"/>
                  <a:t>Removing </a:t>
                </a:r>
                <a:r>
                  <a:rPr lang="en-IN" b="1" dirty="0"/>
                  <a:t>Role-Aware Prompt Evolution</a:t>
                </a:r>
                <a:r>
                  <a:rPr lang="en-IN" dirty="0"/>
                  <a:t> causes up to a </a:t>
                </a:r>
                <a:r>
                  <a:rPr lang="en-IN" b="1" dirty="0"/>
                  <a:t>30% drop</a:t>
                </a:r>
                <a:r>
                  <a:rPr lang="en-IN" dirty="0"/>
                  <a:t> in relative performance (e.g., on </a:t>
                </a:r>
                <a:r>
                  <a:rPr lang="en-IN" i="1" dirty="0"/>
                  <a:t>2WikiQA</a:t>
                </a:r>
                <a:r>
                  <a:rPr lang="en-IN" dirty="0"/>
                  <a:t>).</a:t>
                </a:r>
              </a:p>
              <a:p>
                <a:endParaRPr lang="en-IN" dirty="0"/>
              </a:p>
            </p:txBody>
          </p:sp>
        </mc:Choice>
        <mc:Fallback xmlns="">
          <p:sp>
            <p:nvSpPr>
              <p:cNvPr id="7" name="TextBox 6">
                <a:extLst>
                  <a:ext uri="{FF2B5EF4-FFF2-40B4-BE49-F238E27FC236}">
                    <a16:creationId xmlns:a16="http://schemas.microsoft.com/office/drawing/2014/main" id="{C3AB9C6B-7468-4873-682C-74E67DC9715C}"/>
                  </a:ext>
                </a:extLst>
              </p:cNvPr>
              <p:cNvSpPr txBox="1">
                <a:spLocks noRot="1" noChangeAspect="1" noMove="1" noResize="1" noEditPoints="1" noAdjustHandles="1" noChangeArrowheads="1" noChangeShapeType="1" noTextEdit="1"/>
              </p:cNvSpPr>
              <p:nvPr/>
            </p:nvSpPr>
            <p:spPr>
              <a:xfrm>
                <a:off x="135928" y="1759527"/>
                <a:ext cx="11920141" cy="2862322"/>
              </a:xfrm>
              <a:prstGeom prst="rect">
                <a:avLst/>
              </a:prstGeom>
              <a:blipFill>
                <a:blip r:embed="rId4"/>
                <a:stretch>
                  <a:fillRect l="-409" t="-1279"/>
                </a:stretch>
              </a:blipFill>
            </p:spPr>
            <p:txBody>
              <a:bodyPr/>
              <a:lstStyle/>
              <a:p>
                <a:r>
                  <a:rPr lang="en-IN">
                    <a:noFill/>
                  </a:rPr>
                  <a:t> </a:t>
                </a:r>
              </a:p>
            </p:txBody>
          </p:sp>
        </mc:Fallback>
      </mc:AlternateContent>
    </p:spTree>
    <p:extLst>
      <p:ext uri="{BB962C8B-B14F-4D97-AF65-F5344CB8AC3E}">
        <p14:creationId xmlns:p14="http://schemas.microsoft.com/office/powerpoint/2010/main" val="2206479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6</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114072" y="31393"/>
            <a:ext cx="3989438"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439014"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01 – </a:t>
            </a:r>
            <a:r>
              <a:rPr lang="en-IN" sz="1400" dirty="0"/>
              <a:t>Experience as a Compass: Multi-agent RAG with Evolving</a:t>
            </a:r>
          </a:p>
          <a:p>
            <a:r>
              <a:rPr lang="en-IN" sz="1400" dirty="0"/>
              <a:t>Orchestration and Agent Prompts  </a:t>
            </a:r>
            <a:r>
              <a:rPr lang="en-IN" sz="1400" b="1" dirty="0"/>
              <a:t>Sha Li</a:t>
            </a:r>
            <a:r>
              <a:rPr lang="en-IN" sz="1400" dirty="0"/>
              <a:t> and </a:t>
            </a:r>
            <a:r>
              <a:rPr lang="en-IN" sz="1400" b="1" dirty="0"/>
              <a:t>Naren Ramakrishnan</a:t>
            </a:r>
            <a:r>
              <a:rPr lang="en-IN" sz="1400" dirty="0"/>
              <a:t> from </a:t>
            </a:r>
            <a:r>
              <a:rPr lang="en-IN" sz="1400" b="1" dirty="0"/>
              <a:t>Virginia Tech</a:t>
            </a:r>
            <a:r>
              <a:rPr lang="en-IN" sz="1400" dirty="0"/>
              <a:t>. </a:t>
            </a:r>
            <a:r>
              <a:rPr lang="en-IN" sz="1400" b="1" dirty="0"/>
              <a:t>2026</a:t>
            </a:r>
            <a:endParaRPr lang="en-IN" sz="1400" dirty="0"/>
          </a:p>
        </p:txBody>
      </p:sp>
      <p:sp>
        <p:nvSpPr>
          <p:cNvPr id="7" name="Rounded Rectangle 6"/>
          <p:cNvSpPr/>
          <p:nvPr/>
        </p:nvSpPr>
        <p:spPr>
          <a:xfrm>
            <a:off x="300989" y="2249686"/>
            <a:ext cx="5699760" cy="3629436"/>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ounded Rectangle 17"/>
          <p:cNvSpPr/>
          <p:nvPr/>
        </p:nvSpPr>
        <p:spPr>
          <a:xfrm>
            <a:off x="6283650" y="2194560"/>
            <a:ext cx="5699760" cy="3889604"/>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
        <p:nvSpPr>
          <p:cNvPr id="10" name="TextBox 9">
            <a:extLst>
              <a:ext uri="{FF2B5EF4-FFF2-40B4-BE49-F238E27FC236}">
                <a16:creationId xmlns:a16="http://schemas.microsoft.com/office/drawing/2014/main" id="{04F980BA-4D17-F34B-0D4A-453525A3375E}"/>
              </a:ext>
            </a:extLst>
          </p:cNvPr>
          <p:cNvSpPr txBox="1"/>
          <p:nvPr/>
        </p:nvSpPr>
        <p:spPr>
          <a:xfrm>
            <a:off x="300989" y="2241332"/>
            <a:ext cx="5607363" cy="4524315"/>
          </a:xfrm>
          <a:prstGeom prst="rect">
            <a:avLst/>
          </a:prstGeom>
          <a:noFill/>
        </p:spPr>
        <p:txBody>
          <a:bodyPr wrap="square" rtlCol="0">
            <a:spAutoFit/>
          </a:bodyPr>
          <a:lstStyle/>
          <a:p>
            <a:pPr lvl="0"/>
            <a:r>
              <a:rPr lang="en-IN" b="1" dirty="0"/>
              <a:t>Parameter-Free Adaptability:</a:t>
            </a:r>
            <a:r>
              <a:rPr lang="en-IN" dirty="0"/>
              <a:t> Evolves agent </a:t>
            </a:r>
            <a:r>
              <a:rPr lang="en-IN" dirty="0" err="1"/>
              <a:t>behavior</a:t>
            </a:r>
            <a:r>
              <a:rPr lang="en-IN" dirty="0"/>
              <a:t> and prompts through natural language feedback without expensive neural model weight fine-tuning.</a:t>
            </a:r>
          </a:p>
          <a:p>
            <a:pPr lvl="0"/>
            <a:r>
              <a:rPr lang="en-IN" b="1" dirty="0"/>
              <a:t>Token &amp; Cost Efficiency:</a:t>
            </a:r>
            <a:r>
              <a:rPr lang="en-IN" dirty="0"/>
              <a:t> Dynamically prunes redundant agent execution paths, placing it on the optimal performance–efficiency frontier compared to brute-force multi-agent approaches.</a:t>
            </a:r>
          </a:p>
          <a:p>
            <a:pPr lvl="0"/>
            <a:r>
              <a:rPr lang="en-IN" b="1" dirty="0"/>
              <a:t>Out-of-Distribution Generalization:</a:t>
            </a:r>
            <a:r>
              <a:rPr lang="en-IN" dirty="0"/>
              <a:t> Stores operational insights as human-readable natural language in an Episodic Memory Store, allowing lessons learned to transfer seamlessly to new domains (like interview evaluation).</a:t>
            </a:r>
          </a:p>
          <a:p>
            <a:pPr lvl="0"/>
            <a:r>
              <a:rPr lang="en-IN" b="1" dirty="0"/>
              <a:t>Explainable &amp; Grounded Decision-Making:</a:t>
            </a:r>
            <a:r>
              <a:rPr lang="en-IN" dirty="0"/>
              <a:t> Combines specialized agent roles with RAG retrieval to keep scoring objective and traceably backed by source documents.</a:t>
            </a:r>
          </a:p>
          <a:p>
            <a:endParaRPr lang="en-IN" dirty="0"/>
          </a:p>
        </p:txBody>
      </p:sp>
      <p:sp>
        <p:nvSpPr>
          <p:cNvPr id="23" name="TextBox 22">
            <a:extLst>
              <a:ext uri="{FF2B5EF4-FFF2-40B4-BE49-F238E27FC236}">
                <a16:creationId xmlns:a16="http://schemas.microsoft.com/office/drawing/2014/main" id="{03166489-AFCF-B816-CE7B-2C76BDE7BCBC}"/>
              </a:ext>
            </a:extLst>
          </p:cNvPr>
          <p:cNvSpPr txBox="1"/>
          <p:nvPr/>
        </p:nvSpPr>
        <p:spPr>
          <a:xfrm>
            <a:off x="6397989" y="2148841"/>
            <a:ext cx="5699759" cy="4247317"/>
          </a:xfrm>
          <a:prstGeom prst="rect">
            <a:avLst/>
          </a:prstGeom>
          <a:noFill/>
        </p:spPr>
        <p:txBody>
          <a:bodyPr wrap="square" rtlCol="0">
            <a:spAutoFit/>
          </a:bodyPr>
          <a:lstStyle/>
          <a:p>
            <a:pPr lvl="0"/>
            <a:r>
              <a:rPr lang="en-IN" b="1" dirty="0"/>
              <a:t>Latency &amp; Execution Overhead:</a:t>
            </a:r>
            <a:r>
              <a:rPr lang="en-IN" dirty="0"/>
              <a:t> Running multiple LLM agents sequentially for complex multi-hop queries increases overall response time compared to single-prompt systems.</a:t>
            </a:r>
          </a:p>
          <a:p>
            <a:pPr lvl="0"/>
            <a:r>
              <a:rPr lang="en-IN" b="1" dirty="0"/>
              <a:t>Dependence on Base LLM Capabilities:</a:t>
            </a:r>
            <a:r>
              <a:rPr lang="en-IN" dirty="0"/>
              <a:t> Because HERA relies on in-context reflection, its self-correction and prompt evolution performance scale heavily with the quality of the underlying base LLM (e.g., GPT-4 or Qwen2.5-Coder).</a:t>
            </a:r>
          </a:p>
          <a:p>
            <a:pPr lvl="0"/>
            <a:r>
              <a:rPr lang="en-IN" b="1" dirty="0"/>
              <a:t>Memory Cold-Start Problem:</a:t>
            </a:r>
            <a:r>
              <a:rPr lang="en-IN" dirty="0"/>
              <a:t> The framework requires an initial warm-up period to accumulate execution logs before the Experience Library yields substantial accuracy gains.</a:t>
            </a:r>
          </a:p>
          <a:p>
            <a:pPr lvl="0"/>
            <a:r>
              <a:rPr lang="en-IN" b="1" dirty="0"/>
              <a:t>Error Propagation Risk:</a:t>
            </a:r>
            <a:r>
              <a:rPr lang="en-IN" dirty="0"/>
              <a:t> If an initial retrieval agent pulls inaccurate or biased context from the vector store, downstream evaluation agents can propagate the mistake.</a:t>
            </a:r>
          </a:p>
        </p:txBody>
      </p:sp>
    </p:spTree>
    <p:extLst>
      <p:ext uri="{BB962C8B-B14F-4D97-AF65-F5344CB8AC3E}">
        <p14:creationId xmlns:p14="http://schemas.microsoft.com/office/powerpoint/2010/main" val="3421589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7</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114072" y="31393"/>
            <a:ext cx="3989438"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582604"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01 – </a:t>
            </a:r>
            <a:r>
              <a:rPr lang="en-IN" sz="1400" dirty="0"/>
              <a:t>Experience as a Compass: Multi-agent RAG with Evolving</a:t>
            </a:r>
          </a:p>
          <a:p>
            <a:r>
              <a:rPr lang="en-IN" sz="1400" dirty="0"/>
              <a:t>Orchestration and Agent Prompts  </a:t>
            </a:r>
            <a:r>
              <a:rPr lang="en-IN" sz="1400" b="1" dirty="0"/>
              <a:t>Sha Li</a:t>
            </a:r>
            <a:r>
              <a:rPr lang="en-IN" sz="1400" dirty="0"/>
              <a:t> and </a:t>
            </a:r>
            <a:r>
              <a:rPr lang="en-IN" sz="1400" b="1" dirty="0"/>
              <a:t>Naren Ramakrishnan</a:t>
            </a:r>
            <a:r>
              <a:rPr lang="en-IN" sz="1400" dirty="0"/>
              <a:t> from </a:t>
            </a:r>
            <a:r>
              <a:rPr lang="en-IN" sz="1400" b="1" dirty="0"/>
              <a:t>Virginia Tech</a:t>
            </a:r>
            <a:r>
              <a:rPr lang="en-IN" sz="1400" dirty="0"/>
              <a:t>. </a:t>
            </a:r>
            <a:r>
              <a:rPr lang="en-IN" sz="1400" b="1" dirty="0"/>
              <a:t>2026</a:t>
            </a:r>
            <a:endParaRPr lang="en-IN" sz="14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81127F6-4DA0-3934-63C1-032DFDEFA80F}"/>
                  </a:ext>
                </a:extLst>
              </p:cNvPr>
              <p:cNvSpPr txBox="1"/>
              <p:nvPr/>
            </p:nvSpPr>
            <p:spPr>
              <a:xfrm>
                <a:off x="135928" y="1898073"/>
                <a:ext cx="11751272" cy="3970318"/>
              </a:xfrm>
              <a:prstGeom prst="rect">
                <a:avLst/>
              </a:prstGeom>
              <a:noFill/>
            </p:spPr>
            <p:txBody>
              <a:bodyPr wrap="square" rtlCol="0">
                <a:spAutoFit/>
              </a:bodyPr>
              <a:lstStyle/>
              <a:p>
                <a:pPr lvl="0"/>
                <a:r>
                  <a:rPr lang="en-IN" b="1" dirty="0"/>
                  <a:t>Dynamic Orchestration for Non-Linear Interviews</a:t>
                </a:r>
                <a:endParaRPr lang="en-IN" dirty="0"/>
              </a:p>
              <a:p>
                <a:pPr lvl="1"/>
                <a:r>
                  <a:rPr lang="en-IN" dirty="0"/>
                  <a:t>Real interviews shift based on answers; HERA’s dynamic multi-agent routing allows our system to adapt follow-up questions in real time rather than following a rigid, static script.</a:t>
                </a:r>
              </a:p>
              <a:p>
                <a:pPr lvl="0"/>
                <a:r>
                  <a:rPr lang="en-IN" b="1" dirty="0"/>
                  <a:t>Academic Proof for Parameter-Free Learning</a:t>
                </a:r>
                <a:endParaRPr lang="en-IN" dirty="0"/>
              </a:p>
              <a:p>
                <a:pPr lvl="1"/>
                <a:r>
                  <a:rPr lang="en-IN" dirty="0"/>
                  <a:t>HERA proves high accuracy can be achieved via in-context prompt evolution and memory—eliminating the need for expensive model fine-tuning or massive custom datasets.</a:t>
                </a:r>
              </a:p>
              <a:p>
                <a:pPr lvl="0"/>
                <a:r>
                  <a:rPr lang="en-IN" b="1" dirty="0"/>
                  <a:t>Architectural Mapping</a:t>
                </a:r>
                <a:endParaRPr lang="en-IN" dirty="0"/>
              </a:p>
              <a:p>
                <a:pPr lvl="1"/>
                <a:r>
                  <a:rPr lang="en-IN" b="1" dirty="0"/>
                  <a:t>Global Orchestrator </a:t>
                </a:r>
                <a14:m>
                  <m:oMath xmlns:m="http://schemas.openxmlformats.org/officeDocument/2006/math">
                    <m:r>
                      <a:rPr lang="en-IN">
                        <a:latin typeface="Cambria Math" panose="02040503050406030204" pitchFamily="18" charset="0"/>
                      </a:rPr>
                      <m:t>→</m:t>
                    </m:r>
                  </m:oMath>
                </a14:m>
                <a:r>
                  <a:rPr lang="en-IN" b="1" dirty="0"/>
                  <a:t>Interview Manager:</a:t>
                </a:r>
                <a:r>
                  <a:rPr lang="en-IN" dirty="0"/>
                  <a:t> Controls session workflow.</a:t>
                </a:r>
              </a:p>
              <a:p>
                <a:pPr lvl="1"/>
                <a:r>
                  <a:rPr lang="en-IN" b="1" dirty="0"/>
                  <a:t>Role-Aware Prompt Evolution </a:t>
                </a:r>
                <a14:m>
                  <m:oMath xmlns:m="http://schemas.openxmlformats.org/officeDocument/2006/math">
                    <m:r>
                      <a:rPr lang="en-IN">
                        <a:latin typeface="Cambria Math" panose="02040503050406030204" pitchFamily="18" charset="0"/>
                      </a:rPr>
                      <m:t>→</m:t>
                    </m:r>
                  </m:oMath>
                </a14:m>
                <a:r>
                  <a:rPr lang="en-IN" b="1" dirty="0"/>
                  <a:t>Adaptive Rubrics:</a:t>
                </a:r>
                <a:r>
                  <a:rPr lang="en-IN" dirty="0"/>
                  <a:t> Refines evaluation depth based on candidate skill gaps.</a:t>
                </a:r>
              </a:p>
              <a:p>
                <a:pPr lvl="1"/>
                <a:r>
                  <a:rPr lang="en-IN" b="1" dirty="0"/>
                  <a:t>Episodic Memory </a:t>
                </a:r>
                <a14:m>
                  <m:oMath xmlns:m="http://schemas.openxmlformats.org/officeDocument/2006/math">
                    <m:r>
                      <a:rPr lang="en-IN">
                        <a:latin typeface="Cambria Math" panose="02040503050406030204" pitchFamily="18" charset="0"/>
                      </a:rPr>
                      <m:t>→</m:t>
                    </m:r>
                  </m:oMath>
                </a14:m>
                <a:r>
                  <a:rPr lang="en-IN" b="1" dirty="0"/>
                  <a:t>Candidate Insights:</a:t>
                </a:r>
                <a:r>
                  <a:rPr lang="en-IN" dirty="0"/>
                  <a:t> Stores interaction history to generate candidate skill heatmaps.</a:t>
                </a:r>
              </a:p>
              <a:p>
                <a:pPr lvl="0"/>
                <a:r>
                  <a:rPr lang="en-IN" b="1" dirty="0"/>
                  <a:t>Token &amp; Cost Efficiency </a:t>
                </a:r>
                <a:r>
                  <a:rPr lang="en-IN" b="1" dirty="0" err="1"/>
                  <a:t>Defense</a:t>
                </a:r>
                <a:endParaRPr lang="en-IN" dirty="0"/>
              </a:p>
              <a:p>
                <a:pPr lvl="1"/>
                <a:r>
                  <a:rPr lang="en-IN" dirty="0"/>
                  <a:t>Demonstrates to the panel that a multi-agent system can run cost-effectively by pruning unnecessary sub-agent calls during live interview sessions.</a:t>
                </a:r>
              </a:p>
              <a:p>
                <a:endParaRPr lang="en-IN" dirty="0"/>
              </a:p>
            </p:txBody>
          </p:sp>
        </mc:Choice>
        <mc:Fallback xmlns="">
          <p:sp>
            <p:nvSpPr>
              <p:cNvPr id="7" name="TextBox 6">
                <a:extLst>
                  <a:ext uri="{FF2B5EF4-FFF2-40B4-BE49-F238E27FC236}">
                    <a16:creationId xmlns:a16="http://schemas.microsoft.com/office/drawing/2014/main" id="{381127F6-4DA0-3934-63C1-032DFDEFA80F}"/>
                  </a:ext>
                </a:extLst>
              </p:cNvPr>
              <p:cNvSpPr txBox="1">
                <a:spLocks noRot="1" noChangeAspect="1" noMove="1" noResize="1" noEditPoints="1" noAdjustHandles="1" noChangeArrowheads="1" noChangeShapeType="1" noTextEdit="1"/>
              </p:cNvSpPr>
              <p:nvPr/>
            </p:nvSpPr>
            <p:spPr>
              <a:xfrm>
                <a:off x="135928" y="1898073"/>
                <a:ext cx="11751272" cy="3970318"/>
              </a:xfrm>
              <a:prstGeom prst="rect">
                <a:avLst/>
              </a:prstGeom>
              <a:blipFill>
                <a:blip r:embed="rId4"/>
                <a:stretch>
                  <a:fillRect l="-415" t="-767"/>
                </a:stretch>
              </a:blipFill>
            </p:spPr>
            <p:txBody>
              <a:bodyPr/>
              <a:lstStyle/>
              <a:p>
                <a:r>
                  <a:rPr lang="en-IN">
                    <a:noFill/>
                  </a:rPr>
                  <a:t> </a:t>
                </a:r>
              </a:p>
            </p:txBody>
          </p:sp>
        </mc:Fallback>
      </mc:AlternateContent>
    </p:spTree>
    <p:extLst>
      <p:ext uri="{BB962C8B-B14F-4D97-AF65-F5344CB8AC3E}">
        <p14:creationId xmlns:p14="http://schemas.microsoft.com/office/powerpoint/2010/main" val="1218590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8</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114072" y="31393"/>
            <a:ext cx="3989438"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439014"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a:t>
            </a:r>
            <a:r>
              <a:rPr lang="en-IN" sz="1400" dirty="0"/>
              <a:t>Application of RAG (Retrieval-Augmented Generation) in AI-Driven Resume Analysis and Job Matching </a:t>
            </a:r>
            <a:br>
              <a:rPr lang="en-US" sz="1400" dirty="0"/>
            </a:br>
            <a:r>
              <a:rPr lang="en-IN" sz="1400" dirty="0"/>
              <a:t>Patil et al., April 2025</a:t>
            </a:r>
            <a:r>
              <a:rPr lang="en-US" sz="1400" i="1" dirty="0"/>
              <a:t>|</a:t>
            </a:r>
            <a:endParaRPr lang="en-IN" sz="1400" dirty="0"/>
          </a:p>
        </p:txBody>
      </p:sp>
      <p:sp>
        <p:nvSpPr>
          <p:cNvPr id="8" name="TextBox 7">
            <a:extLst>
              <a:ext uri="{FF2B5EF4-FFF2-40B4-BE49-F238E27FC236}">
                <a16:creationId xmlns:a16="http://schemas.microsoft.com/office/drawing/2014/main" id="{F9A58764-1932-328C-8BDE-88848EE2F7E9}"/>
              </a:ext>
            </a:extLst>
          </p:cNvPr>
          <p:cNvSpPr txBox="1"/>
          <p:nvPr/>
        </p:nvSpPr>
        <p:spPr>
          <a:xfrm>
            <a:off x="104186" y="1634278"/>
            <a:ext cx="11951883" cy="3139321"/>
          </a:xfrm>
          <a:prstGeom prst="rect">
            <a:avLst/>
          </a:prstGeom>
          <a:noFill/>
        </p:spPr>
        <p:txBody>
          <a:bodyPr wrap="square" rtlCol="0">
            <a:spAutoFit/>
          </a:bodyPr>
          <a:lstStyle/>
          <a:p>
            <a:pPr lvl="0"/>
            <a:r>
              <a:rPr lang="en-IN" b="1" dirty="0"/>
              <a:t>Text Processing:</a:t>
            </a:r>
            <a:r>
              <a:rPr lang="en-IN" dirty="0"/>
              <a:t> </a:t>
            </a:r>
            <a:r>
              <a:rPr lang="en-IN" dirty="0" err="1"/>
              <a:t>pdfplumber</a:t>
            </a:r>
            <a:r>
              <a:rPr lang="en-IN" dirty="0"/>
              <a:t> extracts raw text from PDF resumes, which </a:t>
            </a:r>
            <a:r>
              <a:rPr lang="en-IN" dirty="0" err="1"/>
              <a:t>RecursiveCharacterTextSplitter</a:t>
            </a:r>
            <a:r>
              <a:rPr lang="en-IN" dirty="0"/>
              <a:t> divides into 1,000-character chunks (with 200-character overlap). </a:t>
            </a:r>
          </a:p>
          <a:p>
            <a:pPr lvl="0"/>
            <a:r>
              <a:rPr lang="en-IN" b="1" dirty="0"/>
              <a:t>Vector Indexing:</a:t>
            </a:r>
            <a:r>
              <a:rPr lang="en-IN" dirty="0"/>
              <a:t> Google Generative AI Embeddings convert text chunks into vector representations stored in a Chroma database for semantic search. </a:t>
            </a:r>
          </a:p>
          <a:p>
            <a:pPr lvl="0"/>
            <a:r>
              <a:rPr lang="en-IN" b="1" dirty="0"/>
              <a:t>RAG &amp; Evaluation:</a:t>
            </a:r>
            <a:r>
              <a:rPr lang="en-IN" dirty="0"/>
              <a:t> Powered by </a:t>
            </a:r>
            <a:r>
              <a:rPr lang="en-IN" b="1" dirty="0"/>
              <a:t>Gemini-2.0-flash</a:t>
            </a:r>
            <a:r>
              <a:rPr lang="en-IN" dirty="0"/>
              <a:t> and </a:t>
            </a:r>
            <a:r>
              <a:rPr lang="en-IN" dirty="0" err="1"/>
              <a:t>LangChain</a:t>
            </a:r>
            <a:r>
              <a:rPr lang="en-IN" dirty="0"/>
              <a:t>, three specialized prompts execute the core analysis: </a:t>
            </a:r>
          </a:p>
          <a:p>
            <a:pPr lvl="1"/>
            <a:r>
              <a:rPr lang="en-IN" i="1" dirty="0"/>
              <a:t>Overall Match:</a:t>
            </a:r>
            <a:r>
              <a:rPr lang="en-IN" dirty="0"/>
              <a:t> Assesses professional fit, strengths, and weaknesses. </a:t>
            </a:r>
          </a:p>
          <a:p>
            <a:pPr lvl="1"/>
            <a:r>
              <a:rPr lang="en-IN" i="1" dirty="0"/>
              <a:t>Missing Keywords:</a:t>
            </a:r>
            <a:r>
              <a:rPr lang="en-IN" dirty="0"/>
              <a:t> Identifies critical ATS keywords lacking in the resume. </a:t>
            </a:r>
          </a:p>
          <a:p>
            <a:pPr lvl="1"/>
            <a:r>
              <a:rPr lang="en-IN" i="1" dirty="0"/>
              <a:t>Match Score:</a:t>
            </a:r>
            <a:r>
              <a:rPr lang="en-IN" dirty="0"/>
              <a:t> Calculates a dynamic fit percentage with actionable recommendations. </a:t>
            </a:r>
          </a:p>
          <a:p>
            <a:pPr lvl="0"/>
            <a:r>
              <a:rPr lang="en-IN" b="1" dirty="0"/>
              <a:t>Delivery:</a:t>
            </a:r>
            <a:r>
              <a:rPr lang="en-IN" dirty="0"/>
              <a:t> A Flask backend processes the LLM outputs and presents them on a web dashboard split into Overview, Keyword, and Percent views</a:t>
            </a:r>
          </a:p>
          <a:p>
            <a:endParaRPr lang="en-IN" dirty="0"/>
          </a:p>
        </p:txBody>
      </p:sp>
    </p:spTree>
    <p:extLst>
      <p:ext uri="{BB962C8B-B14F-4D97-AF65-F5344CB8AC3E}">
        <p14:creationId xmlns:p14="http://schemas.microsoft.com/office/powerpoint/2010/main" val="2669012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9</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219918" y="31393"/>
            <a:ext cx="3883591"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254788"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a:t>
            </a:r>
            <a:r>
              <a:rPr lang="en-IN" sz="1400" dirty="0"/>
              <a:t>Application of RAG (Retrieval-Augmented Generation) in AI-Driven Resume Analysis and Job Matching </a:t>
            </a:r>
            <a:br>
              <a:rPr lang="en-US" sz="1400" dirty="0"/>
            </a:br>
            <a:r>
              <a:rPr lang="en-IN" sz="1400" dirty="0"/>
              <a:t>Patil et al., April 2025</a:t>
            </a:r>
            <a:r>
              <a:rPr lang="en-US" sz="1400" i="1" dirty="0"/>
              <a:t>|</a:t>
            </a:r>
            <a:endParaRPr lang="en-IN" sz="14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5B9038E-FC22-29A5-17FE-774C8D7EEA39}"/>
                  </a:ext>
                </a:extLst>
              </p:cNvPr>
              <p:cNvSpPr txBox="1"/>
              <p:nvPr/>
            </p:nvSpPr>
            <p:spPr>
              <a:xfrm>
                <a:off x="135928" y="1814944"/>
                <a:ext cx="11920141" cy="4247317"/>
              </a:xfrm>
              <a:prstGeom prst="rect">
                <a:avLst/>
              </a:prstGeom>
              <a:noFill/>
            </p:spPr>
            <p:txBody>
              <a:bodyPr wrap="square" rtlCol="0">
                <a:spAutoFit/>
              </a:bodyPr>
              <a:lstStyle/>
              <a:p>
                <a:pPr lvl="0"/>
                <a:r>
                  <a:rPr lang="en-IN" b="1" dirty="0"/>
                  <a:t>Data Inputs:</a:t>
                </a:r>
                <a:endParaRPr lang="en-IN" dirty="0"/>
              </a:p>
              <a:p>
                <a:pPr lvl="1"/>
                <a:r>
                  <a:rPr lang="en-IN" b="1" dirty="0"/>
                  <a:t>Resumes:</a:t>
                </a:r>
                <a:r>
                  <a:rPr lang="en-IN" dirty="0"/>
                  <a:t> User-uploaded PDF files containing qualifications, experience, and skills. </a:t>
                </a:r>
              </a:p>
              <a:p>
                <a:pPr lvl="1"/>
                <a:r>
                  <a:rPr lang="en-IN" b="1" dirty="0"/>
                  <a:t>Job Descriptions:</a:t>
                </a:r>
                <a:r>
                  <a:rPr lang="en-IN" dirty="0"/>
                  <a:t> Plain text inputs pasted into the UI to serve as the evaluation benchmark. </a:t>
                </a:r>
              </a:p>
              <a:p>
                <a:pPr lvl="0"/>
                <a:r>
                  <a:rPr lang="en-IN" b="1" dirty="0"/>
                  <a:t>Technology Stack:</a:t>
                </a:r>
                <a:endParaRPr lang="en-IN" dirty="0"/>
              </a:p>
              <a:p>
                <a:pPr lvl="1"/>
                <a:r>
                  <a:rPr lang="en-IN" b="1" dirty="0"/>
                  <a:t>Frontend:</a:t>
                </a:r>
                <a:r>
                  <a:rPr lang="en-IN" dirty="0"/>
                  <a:t> HTML, CSS, JavaScript (displays Overview, Keyword, and Percent views). </a:t>
                </a:r>
              </a:p>
              <a:p>
                <a:pPr lvl="1"/>
                <a:r>
                  <a:rPr lang="en-IN" b="1" dirty="0"/>
                  <a:t>Backend &amp; APIs:</a:t>
                </a:r>
                <a:r>
                  <a:rPr lang="en-IN" dirty="0"/>
                  <a:t> Python Flask (/upload, /</a:t>
                </a:r>
                <a:r>
                  <a:rPr lang="en-IN" dirty="0" err="1"/>
                  <a:t>about_resume</a:t>
                </a:r>
                <a:r>
                  <a:rPr lang="en-IN" dirty="0"/>
                  <a:t>, /keywords, /</a:t>
                </a:r>
                <a:r>
                  <a:rPr lang="en-IN" dirty="0" err="1"/>
                  <a:t>percentage_match</a:t>
                </a:r>
                <a:r>
                  <a:rPr lang="en-IN" dirty="0"/>
                  <a:t>). </a:t>
                </a:r>
              </a:p>
              <a:p>
                <a:pPr lvl="1"/>
                <a:r>
                  <a:rPr lang="en-IN" b="1" dirty="0"/>
                  <a:t>Processing Tools:</a:t>
                </a:r>
                <a:r>
                  <a:rPr lang="en-IN" dirty="0"/>
                  <a:t> </a:t>
                </a:r>
                <a:r>
                  <a:rPr lang="en-IN" dirty="0" err="1"/>
                  <a:t>pdfplumber</a:t>
                </a:r>
                <a:r>
                  <a:rPr lang="en-IN" dirty="0"/>
                  <a:t> (PDF extraction) and </a:t>
                </a:r>
                <a:r>
                  <a:rPr lang="en-IN" dirty="0" err="1"/>
                  <a:t>RecursiveCharacterTextSplitter</a:t>
                </a:r>
                <a:r>
                  <a:rPr lang="en-IN" dirty="0"/>
                  <a:t> (1000-char chunks, 200-char overlap). </a:t>
                </a:r>
              </a:p>
              <a:p>
                <a:pPr lvl="1"/>
                <a:r>
                  <a:rPr lang="en-IN" b="1" dirty="0"/>
                  <a:t>AI &amp; RAG Engine:</a:t>
                </a:r>
                <a:r>
                  <a:rPr lang="en-IN" dirty="0"/>
                  <a:t> Gemini-2.0-flash orchestrated by </a:t>
                </a:r>
                <a:r>
                  <a:rPr lang="en-IN" dirty="0" err="1"/>
                  <a:t>LangChain</a:t>
                </a:r>
                <a:r>
                  <a:rPr lang="en-IN" dirty="0"/>
                  <a:t>, Google Generative AI Embeddings, and Chroma Vector Database. </a:t>
                </a:r>
              </a:p>
              <a:p>
                <a:pPr lvl="0"/>
                <a:r>
                  <a:rPr lang="en-IN" b="1" dirty="0"/>
                  <a:t>Pipeline Setup:</a:t>
                </a:r>
                <a:endParaRPr lang="en-IN" dirty="0"/>
              </a:p>
              <a:p>
                <a:pPr lvl="1"/>
                <a:r>
                  <a:rPr lang="en-IN" b="1" dirty="0"/>
                  <a:t>Ingest &amp; Process:</a:t>
                </a:r>
                <a:r>
                  <a:rPr lang="en-IN" dirty="0"/>
                  <a:t> Upload PDF </a:t>
                </a:r>
                <a14:m>
                  <m:oMath xmlns:m="http://schemas.openxmlformats.org/officeDocument/2006/math">
                    <m:r>
                      <a:rPr lang="en-IN">
                        <a:latin typeface="Cambria Math" panose="02040503050406030204" pitchFamily="18" charset="0"/>
                      </a:rPr>
                      <m:t>→</m:t>
                    </m:r>
                  </m:oMath>
                </a14:m>
                <a:r>
                  <a:rPr lang="en-IN" dirty="0"/>
                  <a:t>Extract text via </a:t>
                </a:r>
                <a:r>
                  <a:rPr lang="en-IN" dirty="0" err="1"/>
                  <a:t>pdfplumber</a:t>
                </a:r>
                <a:r>
                  <a:rPr lang="en-IN" dirty="0"/>
                  <a:t> </a:t>
                </a:r>
                <a14:m>
                  <m:oMath xmlns:m="http://schemas.openxmlformats.org/officeDocument/2006/math">
                    <m:r>
                      <a:rPr lang="en-IN">
                        <a:latin typeface="Cambria Math" panose="02040503050406030204" pitchFamily="18" charset="0"/>
                      </a:rPr>
                      <m:t>→</m:t>
                    </m:r>
                  </m:oMath>
                </a14:m>
                <a:r>
                  <a:rPr lang="en-IN" dirty="0"/>
                  <a:t>Split into chunks. </a:t>
                </a:r>
              </a:p>
              <a:p>
                <a:pPr lvl="1"/>
                <a:r>
                  <a:rPr lang="en-IN" b="1" dirty="0"/>
                  <a:t>Vector Indexing:</a:t>
                </a:r>
                <a:r>
                  <a:rPr lang="en-IN" dirty="0"/>
                  <a:t> Convert chunks to Google Embeddings </a:t>
                </a:r>
                <a14:m>
                  <m:oMath xmlns:m="http://schemas.openxmlformats.org/officeDocument/2006/math">
                    <m:r>
                      <a:rPr lang="en-IN">
                        <a:latin typeface="Cambria Math" panose="02040503050406030204" pitchFamily="18" charset="0"/>
                      </a:rPr>
                      <m:t>→</m:t>
                    </m:r>
                  </m:oMath>
                </a14:m>
                <a:r>
                  <a:rPr lang="en-IN" dirty="0"/>
                  <a:t>Store in Chroma DB for similarity search. </a:t>
                </a:r>
              </a:p>
              <a:p>
                <a:pPr lvl="1"/>
                <a:r>
                  <a:rPr lang="en-IN" b="1" dirty="0"/>
                  <a:t>RAG Inference:</a:t>
                </a:r>
                <a:r>
                  <a:rPr lang="en-IN" dirty="0"/>
                  <a:t> Query Chroma DB </a:t>
                </a:r>
                <a14:m>
                  <m:oMath xmlns:m="http://schemas.openxmlformats.org/officeDocument/2006/math">
                    <m:r>
                      <a:rPr lang="en-IN">
                        <a:latin typeface="Cambria Math" panose="02040503050406030204" pitchFamily="18" charset="0"/>
                      </a:rPr>
                      <m:t>→</m:t>
                    </m:r>
                  </m:oMath>
                </a14:m>
                <a:r>
                  <a:rPr lang="en-IN" dirty="0"/>
                  <a:t>Route retrieved context to Gemini-2.0-flash across three custom prompts </a:t>
                </a:r>
                <a14:m>
                  <m:oMath xmlns:m="http://schemas.openxmlformats.org/officeDocument/2006/math">
                    <m:r>
                      <a:rPr lang="en-IN">
                        <a:latin typeface="Cambria Math" panose="02040503050406030204" pitchFamily="18" charset="0"/>
                      </a:rPr>
                      <m:t>→</m:t>
                    </m:r>
                  </m:oMath>
                </a14:m>
                <a:r>
                  <a:rPr lang="en-IN" dirty="0"/>
                  <a:t>Return match score, missing keywords, and detailed analysis.</a:t>
                </a:r>
              </a:p>
              <a:p>
                <a:endParaRPr lang="en-IN" dirty="0"/>
              </a:p>
            </p:txBody>
          </p:sp>
        </mc:Choice>
        <mc:Fallback xmlns="">
          <p:sp>
            <p:nvSpPr>
              <p:cNvPr id="7" name="TextBox 6">
                <a:extLst>
                  <a:ext uri="{FF2B5EF4-FFF2-40B4-BE49-F238E27FC236}">
                    <a16:creationId xmlns:a16="http://schemas.microsoft.com/office/drawing/2014/main" id="{B5B9038E-FC22-29A5-17FE-774C8D7EEA39}"/>
                  </a:ext>
                </a:extLst>
              </p:cNvPr>
              <p:cNvSpPr txBox="1">
                <a:spLocks noRot="1" noChangeAspect="1" noMove="1" noResize="1" noEditPoints="1" noAdjustHandles="1" noChangeArrowheads="1" noChangeShapeType="1" noTextEdit="1"/>
              </p:cNvSpPr>
              <p:nvPr/>
            </p:nvSpPr>
            <p:spPr>
              <a:xfrm>
                <a:off x="135928" y="1814944"/>
                <a:ext cx="11920141" cy="4247317"/>
              </a:xfrm>
              <a:prstGeom prst="rect">
                <a:avLst/>
              </a:prstGeom>
              <a:blipFill>
                <a:blip r:embed="rId4"/>
                <a:stretch>
                  <a:fillRect l="-409" t="-862"/>
                </a:stretch>
              </a:blipFill>
            </p:spPr>
            <p:txBody>
              <a:bodyPr/>
              <a:lstStyle/>
              <a:p>
                <a:r>
                  <a:rPr lang="en-IN">
                    <a:noFill/>
                  </a:rPr>
                  <a:t> </a:t>
                </a:r>
              </a:p>
            </p:txBody>
          </p:sp>
        </mc:Fallback>
      </mc:AlternateContent>
    </p:spTree>
    <p:extLst>
      <p:ext uri="{BB962C8B-B14F-4D97-AF65-F5344CB8AC3E}">
        <p14:creationId xmlns:p14="http://schemas.microsoft.com/office/powerpoint/2010/main" val="3981910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10</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7675418" y="31393"/>
            <a:ext cx="4428092"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143951"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a:t>
            </a:r>
            <a:r>
              <a:rPr lang="en-IN" sz="1400" dirty="0"/>
              <a:t>Application of RAG (Retrieval-Augmented Generation) in AI-Driven Resume Analysis and Job Matching </a:t>
            </a:r>
            <a:br>
              <a:rPr lang="en-US" sz="1400" dirty="0"/>
            </a:br>
            <a:r>
              <a:rPr lang="en-IN" sz="1400" dirty="0"/>
              <a:t>Patil et al., April 2025</a:t>
            </a:r>
            <a:r>
              <a:rPr lang="en-US" sz="1400" i="1" dirty="0"/>
              <a:t>|</a:t>
            </a:r>
            <a:endParaRPr lang="en-IN" sz="1400" dirty="0"/>
          </a:p>
        </p:txBody>
      </p:sp>
      <p:sp>
        <p:nvSpPr>
          <p:cNvPr id="7" name="TextBox 6">
            <a:extLst>
              <a:ext uri="{FF2B5EF4-FFF2-40B4-BE49-F238E27FC236}">
                <a16:creationId xmlns:a16="http://schemas.microsoft.com/office/drawing/2014/main" id="{615E76B9-8306-0169-23D1-19D18597854D}"/>
              </a:ext>
            </a:extLst>
          </p:cNvPr>
          <p:cNvSpPr txBox="1"/>
          <p:nvPr/>
        </p:nvSpPr>
        <p:spPr>
          <a:xfrm>
            <a:off x="135928" y="1967345"/>
            <a:ext cx="11920141" cy="2862322"/>
          </a:xfrm>
          <a:prstGeom prst="rect">
            <a:avLst/>
          </a:prstGeom>
          <a:noFill/>
        </p:spPr>
        <p:txBody>
          <a:bodyPr wrap="square" rtlCol="0">
            <a:spAutoFit/>
          </a:bodyPr>
          <a:lstStyle/>
          <a:p>
            <a:pPr lvl="0"/>
            <a:r>
              <a:rPr lang="en-IN" b="1" dirty="0"/>
              <a:t>Enhanced Evaluation Accuracy:</a:t>
            </a:r>
            <a:r>
              <a:rPr lang="en-IN" dirty="0"/>
              <a:t> The system calculates dynamic match percentages using full-document contextual analysis—evaluating skills, experience alignment, keyword relevance, and education—rather than relying on basic keyword counting. </a:t>
            </a:r>
          </a:p>
          <a:p>
            <a:pPr lvl="0"/>
            <a:r>
              <a:rPr lang="en-IN" b="1" dirty="0"/>
              <a:t>Missing Keyword &amp; Gap Detection:</a:t>
            </a:r>
            <a:r>
              <a:rPr lang="en-IN" dirty="0"/>
              <a:t> Successfully identifies essential role-specific keywords absent from a resume and provides targeted, actionable feedback to help candidates optimize their resumes for Applicant Tracking Systems (ATS). </a:t>
            </a:r>
          </a:p>
          <a:p>
            <a:pPr lvl="0"/>
            <a:r>
              <a:rPr lang="en-IN" b="1" dirty="0"/>
              <a:t>Recruitment Efficiency:</a:t>
            </a:r>
            <a:r>
              <a:rPr lang="en-IN" dirty="0"/>
              <a:t> Experimental outcomes demonstrate that automated resume screening reduces manual review time for recruiters while delivering superior candidate-job matches. </a:t>
            </a:r>
          </a:p>
          <a:p>
            <a:pPr lvl="0"/>
            <a:r>
              <a:rPr lang="en-IN" b="1" dirty="0"/>
              <a:t>Positive User Feedback:</a:t>
            </a:r>
            <a:r>
              <a:rPr lang="en-IN" dirty="0"/>
              <a:t> Initial user testing indicates strong adoption:</a:t>
            </a:r>
          </a:p>
          <a:p>
            <a:pPr lvl="1"/>
            <a:r>
              <a:rPr lang="en-IN" b="1" dirty="0"/>
              <a:t>Job Seekers:</a:t>
            </a:r>
            <a:r>
              <a:rPr lang="en-IN" dirty="0"/>
              <a:t> Value the practical, actionable guidance for resume enhancement. </a:t>
            </a:r>
          </a:p>
          <a:p>
            <a:pPr lvl="1"/>
            <a:r>
              <a:rPr lang="en-IN" b="1" dirty="0"/>
              <a:t>Recruiters:</a:t>
            </a:r>
            <a:r>
              <a:rPr lang="en-IN" dirty="0"/>
              <a:t> Appreciate moving beyond limited keyword searches to leverage qualitative candidate assessments. </a:t>
            </a:r>
          </a:p>
          <a:p>
            <a:endParaRPr lang="en-IN" dirty="0"/>
          </a:p>
        </p:txBody>
      </p:sp>
    </p:spTree>
    <p:extLst>
      <p:ext uri="{BB962C8B-B14F-4D97-AF65-F5344CB8AC3E}">
        <p14:creationId xmlns:p14="http://schemas.microsoft.com/office/powerpoint/2010/main" val="3167751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11</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114072" y="31393"/>
            <a:ext cx="3989438"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157806"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a:t>
            </a:r>
            <a:r>
              <a:rPr lang="en-IN" sz="1400" dirty="0"/>
              <a:t>Application of RAG (Retrieval-Augmented Generation) in AI-Driven Resume Analysis and Job Matching </a:t>
            </a:r>
            <a:br>
              <a:rPr lang="en-US" sz="1400" dirty="0"/>
            </a:br>
            <a:r>
              <a:rPr lang="en-IN" sz="1400" dirty="0"/>
              <a:t>Patil et al., April 2025</a:t>
            </a:r>
            <a:r>
              <a:rPr lang="en-US" sz="1400" i="1" dirty="0"/>
              <a:t>|</a:t>
            </a:r>
            <a:endParaRPr lang="en-IN" sz="1400"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
        <p:nvSpPr>
          <p:cNvPr id="21" name="TextBox 20">
            <a:extLst>
              <a:ext uri="{FF2B5EF4-FFF2-40B4-BE49-F238E27FC236}">
                <a16:creationId xmlns:a16="http://schemas.microsoft.com/office/drawing/2014/main" id="{C3ED54D4-EAF4-AEC9-D284-0008B45EB32C}"/>
              </a:ext>
            </a:extLst>
          </p:cNvPr>
          <p:cNvSpPr txBox="1"/>
          <p:nvPr/>
        </p:nvSpPr>
        <p:spPr>
          <a:xfrm>
            <a:off x="88490" y="2098389"/>
            <a:ext cx="5912259" cy="4524315"/>
          </a:xfrm>
          <a:prstGeom prst="rect">
            <a:avLst/>
          </a:prstGeom>
          <a:noFill/>
        </p:spPr>
        <p:txBody>
          <a:bodyPr wrap="square" rtlCol="0">
            <a:spAutoFit/>
          </a:bodyPr>
          <a:lstStyle/>
          <a:p>
            <a:pPr lvl="0"/>
            <a:r>
              <a:rPr lang="en-IN" b="1" dirty="0"/>
              <a:t>Context-Aware Semantic Matching:</a:t>
            </a:r>
            <a:r>
              <a:rPr lang="en-IN" dirty="0"/>
              <a:t> Uses Google Generative AI Embeddings, Chroma Vector DB, and Gemini-2.0-flash to analyze deeper contextual meaning, skills, and experience rather than relying on simple keyword counts. </a:t>
            </a:r>
          </a:p>
          <a:p>
            <a:pPr lvl="0"/>
            <a:r>
              <a:rPr lang="en-IN" b="1" dirty="0"/>
              <a:t>Actionable Candidate Feedback:</a:t>
            </a:r>
            <a:r>
              <a:rPr lang="en-IN" dirty="0"/>
              <a:t> Identifies exact missing ATS keywords and provides specific suggestions to help applicants optimize their resumes for candidate-job alignment. </a:t>
            </a:r>
          </a:p>
          <a:p>
            <a:pPr lvl="0"/>
            <a:r>
              <a:rPr lang="en-IN" b="1" dirty="0"/>
              <a:t>Multi-Dimensional Prompt Architecture:</a:t>
            </a:r>
            <a:r>
              <a:rPr lang="en-IN" dirty="0"/>
              <a:t> Features tailored prompts (Overall Match, Missing Keywords, and Match Score) that perform distinct qualitative and quantitative evaluations simultaneously. </a:t>
            </a:r>
          </a:p>
          <a:p>
            <a:pPr lvl="0"/>
            <a:r>
              <a:rPr lang="en-IN" b="1" dirty="0"/>
              <a:t>Lightweight &amp; Accessible Deployment:</a:t>
            </a:r>
            <a:r>
              <a:rPr lang="en-IN" dirty="0"/>
              <a:t> Built on a modular Flask backend and simple web interface, allowing fast response times and low computational setup barriers for non-technical users. </a:t>
            </a:r>
          </a:p>
          <a:p>
            <a:endParaRPr lang="en-IN" dirty="0"/>
          </a:p>
        </p:txBody>
      </p:sp>
      <p:sp>
        <p:nvSpPr>
          <p:cNvPr id="23" name="TextBox 22">
            <a:extLst>
              <a:ext uri="{FF2B5EF4-FFF2-40B4-BE49-F238E27FC236}">
                <a16:creationId xmlns:a16="http://schemas.microsoft.com/office/drawing/2014/main" id="{D6918BC7-59D6-3B43-4358-26AAA3F794C8}"/>
              </a:ext>
            </a:extLst>
          </p:cNvPr>
          <p:cNvSpPr txBox="1"/>
          <p:nvPr/>
        </p:nvSpPr>
        <p:spPr>
          <a:xfrm>
            <a:off x="6129976" y="2194560"/>
            <a:ext cx="5684422" cy="3715725"/>
          </a:xfrm>
          <a:prstGeom prst="rect">
            <a:avLst/>
          </a:prstGeom>
          <a:noFill/>
        </p:spPr>
        <p:txBody>
          <a:bodyPr wrap="square" rtlCol="0">
            <a:spAutoFit/>
          </a:bodyPr>
          <a:lstStyle/>
          <a:p>
            <a:pPr lvl="0"/>
            <a:r>
              <a:rPr lang="en-IN" b="1" dirty="0"/>
              <a:t>Parser Dependency:</a:t>
            </a:r>
            <a:r>
              <a:rPr lang="en-IN" dirty="0"/>
              <a:t> Highly reliant on </a:t>
            </a:r>
            <a:r>
              <a:rPr lang="en-IN" dirty="0" err="1"/>
              <a:t>pdfplumber</a:t>
            </a:r>
            <a:r>
              <a:rPr lang="en-IN" dirty="0"/>
              <a:t> for text extraction; poor file quality or non-standard formatting can cause extraction errors. </a:t>
            </a:r>
          </a:p>
          <a:p>
            <a:pPr lvl="0"/>
            <a:r>
              <a:rPr lang="en-IN" b="1" dirty="0"/>
              <a:t>No Visual/Graphic Parsing:</a:t>
            </a:r>
            <a:r>
              <a:rPr lang="en-IN" dirty="0"/>
              <a:t> Unable to parse visual elements, tables, charts, or non-textual resume formatting. </a:t>
            </a:r>
          </a:p>
          <a:p>
            <a:pPr lvl="0"/>
            <a:r>
              <a:rPr lang="en-IN" b="1" dirty="0"/>
              <a:t>LLM Output Risks:</a:t>
            </a:r>
            <a:r>
              <a:rPr lang="en-IN" dirty="0"/>
              <a:t> Subject to potential large language model biases or hallucinated qualitative outputs during candidate evaluation. </a:t>
            </a:r>
          </a:p>
          <a:p>
            <a:pPr lvl="0"/>
            <a:r>
              <a:rPr lang="en-IN" b="1" dirty="0"/>
              <a:t>High Operational Compute Costs:</a:t>
            </a:r>
            <a:r>
              <a:rPr lang="en-IN" dirty="0"/>
              <a:t> Heavy reliance on API calls for LLM inferences (Gemini-2.0-flash) and vector embeddings requires steady network connectivity and computational resources. </a:t>
            </a:r>
          </a:p>
          <a:p>
            <a:endParaRPr lang="en-IN" dirty="0"/>
          </a:p>
        </p:txBody>
      </p:sp>
    </p:spTree>
    <p:extLst>
      <p:ext uri="{BB962C8B-B14F-4D97-AF65-F5344CB8AC3E}">
        <p14:creationId xmlns:p14="http://schemas.microsoft.com/office/powerpoint/2010/main" val="1753889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12</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7661564" y="31393"/>
            <a:ext cx="4441945"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130097"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a:t>
            </a:r>
            <a:r>
              <a:rPr lang="en-IN" sz="1400" dirty="0"/>
              <a:t>Application of RAG (Retrieval-Augmented Generation) in AI-Driven Resume Analysis and Job Matching </a:t>
            </a:r>
            <a:br>
              <a:rPr lang="en-US" sz="1400" dirty="0"/>
            </a:br>
            <a:r>
              <a:rPr lang="en-IN" sz="1400" dirty="0"/>
              <a:t>Patil et al., April 2025</a:t>
            </a:r>
            <a:r>
              <a:rPr lang="en-US" sz="1400" i="1" dirty="0"/>
              <a:t>|</a:t>
            </a:r>
            <a:endParaRPr lang="en-IN" sz="1400" dirty="0"/>
          </a:p>
        </p:txBody>
      </p:sp>
      <p:sp>
        <p:nvSpPr>
          <p:cNvPr id="7" name="TextBox 6">
            <a:extLst>
              <a:ext uri="{FF2B5EF4-FFF2-40B4-BE49-F238E27FC236}">
                <a16:creationId xmlns:a16="http://schemas.microsoft.com/office/drawing/2014/main" id="{BFAAD192-82EE-C8B8-F4D7-59A8443FE1F2}"/>
              </a:ext>
            </a:extLst>
          </p:cNvPr>
          <p:cNvSpPr txBox="1"/>
          <p:nvPr/>
        </p:nvSpPr>
        <p:spPr>
          <a:xfrm>
            <a:off x="135928" y="1801090"/>
            <a:ext cx="11920141" cy="4247317"/>
          </a:xfrm>
          <a:prstGeom prst="rect">
            <a:avLst/>
          </a:prstGeom>
          <a:noFill/>
        </p:spPr>
        <p:txBody>
          <a:bodyPr wrap="square" rtlCol="0">
            <a:spAutoFit/>
          </a:bodyPr>
          <a:lstStyle/>
          <a:p>
            <a:pPr lvl="0"/>
            <a:r>
              <a:rPr lang="en-IN" b="1" dirty="0"/>
              <a:t>Practical RAG Implementation for Candidate Evaluation:</a:t>
            </a:r>
            <a:r>
              <a:rPr lang="en-IN" dirty="0"/>
              <a:t> </a:t>
            </a:r>
            <a:r>
              <a:rPr lang="en-IN" dirty="0" err="1"/>
              <a:t>JobMatchr</a:t>
            </a:r>
            <a:r>
              <a:rPr lang="en-IN" dirty="0"/>
              <a:t> demonstrates a working blueprint for applying Retrieval-Augmented Generation (RAG) directly to resume analysis and ATS keyword matching using vector databases (Chroma) and LLM orchestration (</a:t>
            </a:r>
            <a:r>
              <a:rPr lang="en-IN" dirty="0" err="1"/>
              <a:t>LangChain</a:t>
            </a:r>
            <a:r>
              <a:rPr lang="en-IN" dirty="0"/>
              <a:t>). You can adapt this retrieval pipeline to pull relevant sections from candidates' resumes during interview generation or post-interview evaluation. </a:t>
            </a:r>
          </a:p>
          <a:p>
            <a:pPr lvl="0"/>
            <a:r>
              <a:rPr lang="en-IN" b="1" dirty="0"/>
              <a:t>Multi-Prompt Analytical Scaffolding:</a:t>
            </a:r>
            <a:r>
              <a:rPr lang="en-IN" dirty="0"/>
              <a:t> Instead of relying on a single monolithic prompt, </a:t>
            </a:r>
            <a:r>
              <a:rPr lang="en-IN" dirty="0" err="1"/>
              <a:t>JobMatchr</a:t>
            </a:r>
            <a:r>
              <a:rPr lang="en-IN" dirty="0"/>
              <a:t> splits candidate analysis across specialized prompts (Overall Match, Missing Keywords, Match Percentage). This offers a practical baseline for how you can structure subtasks in your platform to generate explainable performance feedback and minimize hallucinations. </a:t>
            </a:r>
          </a:p>
          <a:p>
            <a:pPr lvl="0"/>
            <a:r>
              <a:rPr lang="en-IN" b="1" dirty="0"/>
              <a:t>Bridge to Multi-Agent Systems:</a:t>
            </a:r>
            <a:r>
              <a:rPr lang="en-IN" dirty="0"/>
              <a:t> While </a:t>
            </a:r>
            <a:r>
              <a:rPr lang="en-IN" dirty="0" err="1"/>
              <a:t>JobMatchr</a:t>
            </a:r>
            <a:r>
              <a:rPr lang="en-IN" dirty="0"/>
              <a:t> uses a static linear chain, its limitations—such as static RAG workflows and lack of dynamic reasoning—provide a clear rationale for your platform's Multi-Agent architecture. You can position your multi-agent setup (e.g., using frameworks like HERA or MA-RAG) as a direct architectural evolution over single-chain RAG pipelines like </a:t>
            </a:r>
            <a:r>
              <a:rPr lang="en-IN" dirty="0" err="1"/>
              <a:t>JobMatchr</a:t>
            </a:r>
            <a:r>
              <a:rPr lang="en-IN" dirty="0"/>
              <a:t>. </a:t>
            </a:r>
          </a:p>
          <a:p>
            <a:pPr lvl="0"/>
            <a:r>
              <a:rPr lang="en-IN" b="1" dirty="0"/>
              <a:t>Actionable Candidate Feedback:</a:t>
            </a:r>
            <a:r>
              <a:rPr lang="en-IN" dirty="0"/>
              <a:t> </a:t>
            </a:r>
            <a:r>
              <a:rPr lang="en-IN" dirty="0" err="1"/>
              <a:t>JobMatchr</a:t>
            </a:r>
            <a:r>
              <a:rPr lang="en-IN" dirty="0"/>
              <a:t> highlights the value of providing actionable, gap-focused feedback (such as identifying missing skills and ATS keywords) rather than just a numerical score. You can extend this concept to interview performance reports, offering targeted recommendations for skill improvement and interview responses. </a:t>
            </a:r>
          </a:p>
          <a:p>
            <a:endParaRPr lang="en-IN" dirty="0"/>
          </a:p>
        </p:txBody>
      </p:sp>
    </p:spTree>
    <p:extLst>
      <p:ext uri="{BB962C8B-B14F-4D97-AF65-F5344CB8AC3E}">
        <p14:creationId xmlns:p14="http://schemas.microsoft.com/office/powerpoint/2010/main" val="16602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13</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7924800" y="31393"/>
            <a:ext cx="4178709"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296351"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a:t>
            </a:r>
            <a:r>
              <a:rPr lang="en-IN" sz="1400" dirty="0"/>
              <a:t>MA-RAG: MULTI-AGENT RETRIEVAL-AUGMENTED GENERATION VIA COLLABORATIVE CHAIN-OF THOUGHT REASONING</a:t>
            </a:r>
          </a:p>
          <a:p>
            <a:r>
              <a:rPr lang="en-IN" sz="1400" dirty="0"/>
              <a:t>Nguyen et al., Oct 2025)</a:t>
            </a:r>
          </a:p>
        </p:txBody>
      </p:sp>
      <p:sp>
        <p:nvSpPr>
          <p:cNvPr id="7" name="TextBox 6">
            <a:extLst>
              <a:ext uri="{FF2B5EF4-FFF2-40B4-BE49-F238E27FC236}">
                <a16:creationId xmlns:a16="http://schemas.microsoft.com/office/drawing/2014/main" id="{2DCEEB9B-CCDE-16A0-FF4A-8AB3D93AF95A}"/>
              </a:ext>
            </a:extLst>
          </p:cNvPr>
          <p:cNvSpPr txBox="1"/>
          <p:nvPr/>
        </p:nvSpPr>
        <p:spPr>
          <a:xfrm>
            <a:off x="104186" y="1801091"/>
            <a:ext cx="11951883" cy="2862322"/>
          </a:xfrm>
          <a:prstGeom prst="rect">
            <a:avLst/>
          </a:prstGeom>
          <a:noFill/>
        </p:spPr>
        <p:txBody>
          <a:bodyPr wrap="square" rtlCol="0">
            <a:spAutoFit/>
          </a:bodyPr>
          <a:lstStyle/>
          <a:p>
            <a:pPr lvl="0"/>
            <a:r>
              <a:rPr lang="en-IN" b="1" dirty="0"/>
              <a:t>Multi-Agent Collaboration:</a:t>
            </a:r>
            <a:endParaRPr lang="en-IN" dirty="0"/>
          </a:p>
          <a:p>
            <a:pPr lvl="1"/>
            <a:r>
              <a:rPr lang="en-IN" b="1" dirty="0"/>
              <a:t>Planner Agent:</a:t>
            </a:r>
            <a:r>
              <a:rPr lang="en-IN" dirty="0"/>
              <a:t> Analyzes queries, resolves ambiguity, and creates step-by-step strategies. </a:t>
            </a:r>
          </a:p>
          <a:p>
            <a:pPr lvl="1"/>
            <a:r>
              <a:rPr lang="en-IN" b="1" dirty="0"/>
              <a:t>Step Definer Agent:</a:t>
            </a:r>
            <a:r>
              <a:rPr lang="en-IN" dirty="0"/>
              <a:t> Decomposes plans into concrete, executable sub-questions. </a:t>
            </a:r>
          </a:p>
          <a:p>
            <a:pPr lvl="1"/>
            <a:r>
              <a:rPr lang="en-IN" b="1" dirty="0"/>
              <a:t>Extractor Agent:</a:t>
            </a:r>
            <a:r>
              <a:rPr lang="en-IN" dirty="0"/>
              <a:t> Filters raw retrieved documents to extract targeted evidence and strip noise. </a:t>
            </a:r>
          </a:p>
          <a:p>
            <a:pPr lvl="1"/>
            <a:r>
              <a:rPr lang="en-IN" b="1" dirty="0"/>
              <a:t>QA Agent:</a:t>
            </a:r>
            <a:r>
              <a:rPr lang="en-IN" dirty="0"/>
              <a:t> Synthesizes extracted evidence and reasoning paths into final answers. </a:t>
            </a:r>
          </a:p>
          <a:p>
            <a:pPr lvl="0"/>
            <a:r>
              <a:rPr lang="en-IN" b="1" dirty="0"/>
              <a:t>Key Execution Features:</a:t>
            </a:r>
            <a:endParaRPr lang="en-IN" dirty="0"/>
          </a:p>
          <a:p>
            <a:pPr lvl="1"/>
            <a:r>
              <a:rPr lang="en-IN" b="1" dirty="0"/>
              <a:t>Dynamic Multi-Hop Retrieval:</a:t>
            </a:r>
            <a:r>
              <a:rPr lang="en-IN" dirty="0"/>
              <a:t> Iterative retrieval-and-extraction loop executed until sufficient evidence is gathered. </a:t>
            </a:r>
          </a:p>
          <a:p>
            <a:pPr lvl="1"/>
            <a:r>
              <a:rPr lang="en-IN" b="1" dirty="0"/>
              <a:t>Chain-of-Thought Communication:</a:t>
            </a:r>
            <a:r>
              <a:rPr lang="en-IN" dirty="0"/>
              <a:t> Structured inter-agent messaging preserves context and history across sub-tasks. </a:t>
            </a:r>
          </a:p>
          <a:p>
            <a:pPr lvl="1"/>
            <a:r>
              <a:rPr lang="en-IN" b="1" dirty="0"/>
              <a:t>Training-Free Setup:</a:t>
            </a:r>
            <a:r>
              <a:rPr lang="en-IN" dirty="0"/>
              <a:t> Operates entirely via specialized prompting and orchestration without model fine-tuning</a:t>
            </a:r>
          </a:p>
          <a:p>
            <a:endParaRPr lang="en-IN" dirty="0"/>
          </a:p>
        </p:txBody>
      </p:sp>
    </p:spTree>
    <p:extLst>
      <p:ext uri="{BB962C8B-B14F-4D97-AF65-F5344CB8AC3E}">
        <p14:creationId xmlns:p14="http://schemas.microsoft.com/office/powerpoint/2010/main" val="1997796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14</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7675418" y="31393"/>
            <a:ext cx="4428091"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143951"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a:t>
            </a:r>
            <a:r>
              <a:rPr lang="en-IN" sz="1400" dirty="0"/>
              <a:t>MA-RAG: MULTI-AGENT RETRIEVAL-AUGMENTED GENERATION VIA COLLABORATIVE CHAIN-OF THOUGHT REASONING</a:t>
            </a:r>
          </a:p>
          <a:p>
            <a:r>
              <a:rPr lang="en-IN" sz="1400" dirty="0"/>
              <a:t>Nguyen et al., Oct 2025)</a:t>
            </a:r>
          </a:p>
        </p:txBody>
      </p:sp>
      <p:sp>
        <p:nvSpPr>
          <p:cNvPr id="7" name="TextBox 6">
            <a:extLst>
              <a:ext uri="{FF2B5EF4-FFF2-40B4-BE49-F238E27FC236}">
                <a16:creationId xmlns:a16="http://schemas.microsoft.com/office/drawing/2014/main" id="{5FA902DE-9DDF-FC6E-42D2-70B4AAFA917C}"/>
              </a:ext>
            </a:extLst>
          </p:cNvPr>
          <p:cNvSpPr txBox="1"/>
          <p:nvPr/>
        </p:nvSpPr>
        <p:spPr>
          <a:xfrm>
            <a:off x="56747" y="1502688"/>
            <a:ext cx="11999322" cy="5355312"/>
          </a:xfrm>
          <a:prstGeom prst="rect">
            <a:avLst/>
          </a:prstGeom>
          <a:noFill/>
        </p:spPr>
        <p:txBody>
          <a:bodyPr wrap="square" rtlCol="0">
            <a:spAutoFit/>
          </a:bodyPr>
          <a:lstStyle/>
          <a:p>
            <a:pPr lvl="0"/>
            <a:r>
              <a:rPr lang="en-IN" b="1" dirty="0"/>
              <a:t>Datasets &amp; Benchmarks:</a:t>
            </a:r>
            <a:endParaRPr lang="en-IN" dirty="0"/>
          </a:p>
          <a:p>
            <a:pPr lvl="1"/>
            <a:r>
              <a:rPr lang="en-IN" b="1" dirty="0"/>
              <a:t>Evaluation Corpora:</a:t>
            </a:r>
            <a:r>
              <a:rPr lang="en-IN" dirty="0"/>
              <a:t> Open-domain multi-hop and ambiguous QA benchmarks, including </a:t>
            </a:r>
            <a:r>
              <a:rPr lang="en-IN" b="1" dirty="0" err="1"/>
              <a:t>HotpotQA</a:t>
            </a:r>
            <a:r>
              <a:rPr lang="en-IN" dirty="0"/>
              <a:t>, </a:t>
            </a:r>
            <a:r>
              <a:rPr lang="en-IN" b="1" dirty="0"/>
              <a:t>2WikiMultiHopQA (2WikimQA)</a:t>
            </a:r>
            <a:r>
              <a:rPr lang="en-IN" dirty="0"/>
              <a:t>, </a:t>
            </a:r>
            <a:r>
              <a:rPr lang="en-IN" b="1" dirty="0"/>
              <a:t>Natural Questions (NQ)</a:t>
            </a:r>
            <a:r>
              <a:rPr lang="en-IN" dirty="0"/>
              <a:t>, </a:t>
            </a:r>
            <a:r>
              <a:rPr lang="en-IN" b="1" dirty="0" err="1"/>
              <a:t>TriviaQA</a:t>
            </a:r>
            <a:r>
              <a:rPr lang="en-IN" dirty="0"/>
              <a:t>, and </a:t>
            </a:r>
            <a:r>
              <a:rPr lang="en-IN" b="1" dirty="0" err="1"/>
              <a:t>MuSiQue</a:t>
            </a:r>
            <a:r>
              <a:rPr lang="en-IN" dirty="0"/>
              <a:t>.</a:t>
            </a:r>
          </a:p>
          <a:p>
            <a:pPr lvl="1"/>
            <a:r>
              <a:rPr lang="en-IN" b="1" dirty="0"/>
              <a:t>Document Corpora:</a:t>
            </a:r>
            <a:r>
              <a:rPr lang="en-IN" dirty="0"/>
              <a:t> </a:t>
            </a:r>
            <a:r>
              <a:rPr lang="en-IN" dirty="0" err="1"/>
              <a:t>Preprocessed</a:t>
            </a:r>
            <a:r>
              <a:rPr lang="en-IN" dirty="0"/>
              <a:t> passage collections (e.g., Wikipedia dump) chunked into text segments for retrieval.</a:t>
            </a:r>
          </a:p>
          <a:p>
            <a:pPr lvl="0"/>
            <a:r>
              <a:rPr lang="en-IN" b="1" dirty="0"/>
              <a:t>Technology &amp; Models:</a:t>
            </a:r>
            <a:endParaRPr lang="en-IN" dirty="0"/>
          </a:p>
          <a:p>
            <a:pPr lvl="1"/>
            <a:r>
              <a:rPr lang="en-IN" b="1" dirty="0"/>
              <a:t>LLM Backends:</a:t>
            </a:r>
            <a:r>
              <a:rPr lang="en-IN" dirty="0"/>
              <a:t> General-purpose open-source and proprietary foundation models (e.g., </a:t>
            </a:r>
            <a:r>
              <a:rPr lang="en-IN" b="1" dirty="0"/>
              <a:t>LLaMA-3</a:t>
            </a:r>
            <a:r>
              <a:rPr lang="en-IN" dirty="0"/>
              <a:t>, </a:t>
            </a:r>
            <a:r>
              <a:rPr lang="en-IN" b="1" dirty="0"/>
              <a:t>GPT-4o-mini</a:t>
            </a:r>
            <a:r>
              <a:rPr lang="en-IN" dirty="0"/>
              <a:t>) serving as the reasoning backbone for agents. </a:t>
            </a:r>
          </a:p>
          <a:p>
            <a:pPr lvl="1"/>
            <a:r>
              <a:rPr lang="en-IN" b="1" dirty="0"/>
              <a:t>Dense Retrieval Engine:</a:t>
            </a:r>
            <a:r>
              <a:rPr lang="en-IN" dirty="0"/>
              <a:t> </a:t>
            </a:r>
            <a:r>
              <a:rPr lang="en-IN" b="1" dirty="0"/>
              <a:t>FAISS</a:t>
            </a:r>
            <a:r>
              <a:rPr lang="en-IN" dirty="0"/>
              <a:t> index using pretrained dense encoders (e.g., </a:t>
            </a:r>
            <a:r>
              <a:rPr lang="en-IN" dirty="0" err="1"/>
              <a:t>Contriever</a:t>
            </a:r>
            <a:r>
              <a:rPr lang="en-IN" dirty="0"/>
              <a:t>/DPR) to execute vector similarity searches.</a:t>
            </a:r>
          </a:p>
          <a:p>
            <a:pPr lvl="1"/>
            <a:r>
              <a:rPr lang="en-IN" b="1" dirty="0"/>
              <a:t>Prompt Infrastructure:</a:t>
            </a:r>
            <a:r>
              <a:rPr lang="en-IN" dirty="0"/>
              <a:t> Specialized Chain-of-Thought (</a:t>
            </a:r>
            <a:r>
              <a:rPr lang="en-IN" dirty="0" err="1"/>
              <a:t>CoT</a:t>
            </a:r>
            <a:r>
              <a:rPr lang="en-IN" dirty="0"/>
              <a:t>) prompts with few-shot in-context learning to guide agent </a:t>
            </a:r>
            <a:r>
              <a:rPr lang="en-IN" dirty="0" err="1"/>
              <a:t>behavior</a:t>
            </a:r>
            <a:r>
              <a:rPr lang="en-IN" dirty="0"/>
              <a:t> without gradient updates.</a:t>
            </a:r>
          </a:p>
          <a:p>
            <a:pPr lvl="0"/>
            <a:r>
              <a:rPr lang="en-IN" b="1" dirty="0"/>
              <a:t>System &amp; Environment Configuration:</a:t>
            </a:r>
            <a:endParaRPr lang="en-IN" dirty="0"/>
          </a:p>
          <a:p>
            <a:pPr lvl="1"/>
            <a:r>
              <a:rPr lang="en-IN" b="1" dirty="0"/>
              <a:t>Training-Free Execution:</a:t>
            </a:r>
            <a:r>
              <a:rPr lang="en-IN" dirty="0"/>
              <a:t> Requires </a:t>
            </a:r>
            <a:r>
              <a:rPr lang="en-IN" b="1" dirty="0"/>
              <a:t>zero fine-tuning</a:t>
            </a:r>
            <a:r>
              <a:rPr lang="en-IN" dirty="0"/>
              <a:t> or model parameter updates; operates strictly via dynamic prompt-based agent orchestration. </a:t>
            </a:r>
          </a:p>
          <a:p>
            <a:pPr lvl="1"/>
            <a:r>
              <a:rPr lang="en-IN" b="1" dirty="0"/>
              <a:t>On-Demand Invocation:</a:t>
            </a:r>
            <a:r>
              <a:rPr lang="en-IN" dirty="0"/>
              <a:t> Selective agent activation based on query complexity to reduce unnecessary computation and API overhead. </a:t>
            </a:r>
          </a:p>
          <a:p>
            <a:pPr lvl="1"/>
            <a:r>
              <a:rPr lang="en-IN" b="1" dirty="0"/>
              <a:t>Memory &amp; State Tracking:</a:t>
            </a:r>
            <a:r>
              <a:rPr lang="en-IN" dirty="0"/>
              <a:t> Inter-agent shared memory workspace storing accumulated step-wise histories, plan states, and extracted evidence spans.</a:t>
            </a:r>
          </a:p>
          <a:p>
            <a:endParaRPr lang="en-IN" dirty="0"/>
          </a:p>
        </p:txBody>
      </p:sp>
    </p:spTree>
    <p:extLst>
      <p:ext uri="{BB962C8B-B14F-4D97-AF65-F5344CB8AC3E}">
        <p14:creationId xmlns:p14="http://schemas.microsoft.com/office/powerpoint/2010/main" val="204099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15</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7869382" y="31393"/>
            <a:ext cx="4234127"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337915"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a:t>
            </a:r>
            <a:r>
              <a:rPr lang="en-IN" sz="1400" dirty="0"/>
              <a:t>MA-RAG: MULTI-AGENT RETRIEVAL-AUGMENTED GENERATION VIA COLLABORATIVE CHAIN-OF THOUGHT REASONING</a:t>
            </a:r>
          </a:p>
          <a:p>
            <a:r>
              <a:rPr lang="en-IN" sz="1400" dirty="0"/>
              <a:t>Nguyen et al., Oct 2025)</a:t>
            </a:r>
          </a:p>
        </p:txBody>
      </p:sp>
      <p:sp>
        <p:nvSpPr>
          <p:cNvPr id="7" name="TextBox 6">
            <a:extLst>
              <a:ext uri="{FF2B5EF4-FFF2-40B4-BE49-F238E27FC236}">
                <a16:creationId xmlns:a16="http://schemas.microsoft.com/office/drawing/2014/main" id="{FB802773-A81F-5276-3F77-BA1C40D79CDB}"/>
              </a:ext>
            </a:extLst>
          </p:cNvPr>
          <p:cNvSpPr txBox="1"/>
          <p:nvPr/>
        </p:nvSpPr>
        <p:spPr>
          <a:xfrm>
            <a:off x="104186" y="1856509"/>
            <a:ext cx="11951883" cy="3416320"/>
          </a:xfrm>
          <a:prstGeom prst="rect">
            <a:avLst/>
          </a:prstGeom>
          <a:noFill/>
        </p:spPr>
        <p:txBody>
          <a:bodyPr wrap="square" rtlCol="0">
            <a:spAutoFit/>
          </a:bodyPr>
          <a:lstStyle/>
          <a:p>
            <a:pPr lvl="0"/>
            <a:r>
              <a:rPr lang="en-IN" b="1" dirty="0"/>
              <a:t>State-of-the-Art QA Accuracy:</a:t>
            </a:r>
            <a:r>
              <a:rPr lang="en-IN" dirty="0"/>
              <a:t> Achieves top performance across complex open-domain benchmarks (</a:t>
            </a:r>
            <a:r>
              <a:rPr lang="en-IN" b="1" dirty="0" err="1"/>
              <a:t>HotpotQA</a:t>
            </a:r>
            <a:r>
              <a:rPr lang="en-IN" dirty="0"/>
              <a:t>, </a:t>
            </a:r>
            <a:r>
              <a:rPr lang="en-IN" b="1" dirty="0"/>
              <a:t>2WikiMultiHopQA</a:t>
            </a:r>
            <a:r>
              <a:rPr lang="en-IN" dirty="0"/>
              <a:t>, </a:t>
            </a:r>
            <a:r>
              <a:rPr lang="en-IN" b="1" dirty="0"/>
              <a:t>NQ</a:t>
            </a:r>
            <a:r>
              <a:rPr lang="en-IN" dirty="0"/>
              <a:t>, </a:t>
            </a:r>
            <a:r>
              <a:rPr lang="en-IN" b="1" dirty="0" err="1"/>
              <a:t>TriviaQA</a:t>
            </a:r>
            <a:r>
              <a:rPr lang="en-IN" dirty="0"/>
              <a:t>), consistently outperforming standalone LLMs and standard single-pipeline RAG architectures.</a:t>
            </a:r>
          </a:p>
          <a:p>
            <a:pPr lvl="0"/>
            <a:r>
              <a:rPr lang="en-IN" b="1" dirty="0"/>
              <a:t>Effective Multi-Hop &amp; Ambiguous Query Handling:</a:t>
            </a:r>
            <a:r>
              <a:rPr lang="en-IN" dirty="0"/>
              <a:t> Significantly reduces reasoning failures and hallucinations on complex multi-step queries through dynamic task decomposition and step-by-step evidence extraction.</a:t>
            </a:r>
          </a:p>
          <a:p>
            <a:pPr lvl="0"/>
            <a:r>
              <a:rPr lang="en-IN" b="1" dirty="0"/>
              <a:t>Superiority Without Fine-Tuning:</a:t>
            </a:r>
            <a:r>
              <a:rPr lang="en-IN" dirty="0"/>
              <a:t> Matches or exceeds the performance of specialized fine-tuned RAG baselines while operating entirely </a:t>
            </a:r>
            <a:r>
              <a:rPr lang="en-IN" b="1" dirty="0"/>
              <a:t>training-free</a:t>
            </a:r>
            <a:r>
              <a:rPr lang="en-IN" dirty="0"/>
              <a:t> via prompt orchestration.</a:t>
            </a:r>
          </a:p>
          <a:p>
            <a:pPr lvl="0"/>
            <a:r>
              <a:rPr lang="en-IN" b="1" dirty="0"/>
              <a:t>Inference Efficiency via Dynamic Invocation:</a:t>
            </a:r>
            <a:r>
              <a:rPr lang="en-IN" dirty="0"/>
              <a:t> Reduces token consumption and computational overhead compared to static multi-agent setups by invoking agents </a:t>
            </a:r>
            <a:r>
              <a:rPr lang="en-IN" b="1" dirty="0"/>
              <a:t>on-demand</a:t>
            </a:r>
            <a:r>
              <a:rPr lang="en-IN" dirty="0"/>
              <a:t> based on step complexity.</a:t>
            </a:r>
          </a:p>
          <a:p>
            <a:pPr lvl="0"/>
            <a:r>
              <a:rPr lang="en-IN" b="1" dirty="0"/>
              <a:t>Enhanced Interpretability &amp; Explainability:</a:t>
            </a:r>
            <a:r>
              <a:rPr lang="en-IN" dirty="0"/>
              <a:t> Generates explicit Chain-of-Thought (</a:t>
            </a:r>
            <a:r>
              <a:rPr lang="en-IN" dirty="0" err="1"/>
              <a:t>CoT</a:t>
            </a:r>
            <a:r>
              <a:rPr lang="en-IN" dirty="0"/>
              <a:t>) traces between the Planner, Extractor, and QA agents, allowing clear inspection of intermediate reasoning and retrieval steps.</a:t>
            </a:r>
          </a:p>
          <a:p>
            <a:endParaRPr lang="en-IN" dirty="0"/>
          </a:p>
        </p:txBody>
      </p:sp>
    </p:spTree>
    <p:extLst>
      <p:ext uri="{BB962C8B-B14F-4D97-AF65-F5344CB8AC3E}">
        <p14:creationId xmlns:p14="http://schemas.microsoft.com/office/powerpoint/2010/main" val="877517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16</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7744692" y="31393"/>
            <a:ext cx="4358818"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213224"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a:t>
            </a:r>
            <a:r>
              <a:rPr lang="en-IN" sz="1400" dirty="0"/>
              <a:t>MA-RAG: MULTI-AGENT RETRIEVAL-AUGMENTED GENERATION VIA COLLABORATIVE CHAIN-OF THOUGHT REASONING</a:t>
            </a:r>
          </a:p>
          <a:p>
            <a:r>
              <a:rPr lang="en-IN" sz="1400" dirty="0"/>
              <a:t>Nguyen et al., Oct 2025)</a:t>
            </a:r>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ounded Rectangle 17"/>
          <p:cNvSpPr/>
          <p:nvPr/>
        </p:nvSpPr>
        <p:spPr>
          <a:xfrm>
            <a:off x="6146800" y="2194559"/>
            <a:ext cx="5699760" cy="4141527"/>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
        <p:nvSpPr>
          <p:cNvPr id="23" name="TextBox 22">
            <a:extLst>
              <a:ext uri="{FF2B5EF4-FFF2-40B4-BE49-F238E27FC236}">
                <a16:creationId xmlns:a16="http://schemas.microsoft.com/office/drawing/2014/main" id="{F3BAC5C8-0DC5-FEE2-BD3A-E539A74E4A63}"/>
              </a:ext>
            </a:extLst>
          </p:cNvPr>
          <p:cNvSpPr txBox="1"/>
          <p:nvPr/>
        </p:nvSpPr>
        <p:spPr>
          <a:xfrm>
            <a:off x="264160" y="2142021"/>
            <a:ext cx="6007510" cy="4801314"/>
          </a:xfrm>
          <a:prstGeom prst="rect">
            <a:avLst/>
          </a:prstGeom>
          <a:noFill/>
        </p:spPr>
        <p:txBody>
          <a:bodyPr wrap="square" rtlCol="0">
            <a:spAutoFit/>
          </a:bodyPr>
          <a:lstStyle/>
          <a:p>
            <a:pPr lvl="0"/>
            <a:r>
              <a:rPr lang="en-IN" b="1" dirty="0"/>
              <a:t>Enhanced Multi-Hop &amp; Ambiguous Query Performance:</a:t>
            </a:r>
            <a:r>
              <a:rPr lang="en-IN" dirty="0"/>
              <a:t> Decomposing complex queries into step-by-step subtasks via the Planner and Step Definer drastically improves retrieval accuracy and reduces hallucinations on complex benchmarks.</a:t>
            </a:r>
          </a:p>
          <a:p>
            <a:pPr lvl="0"/>
            <a:r>
              <a:rPr lang="en-IN" b="1" dirty="0"/>
              <a:t>Noise Reduction &amp; High Evidence Grounding:</a:t>
            </a:r>
            <a:r>
              <a:rPr lang="en-IN" dirty="0"/>
              <a:t> The dedicated Extractor Agent filters raw retrieved documents to isolate target evidence spans before passing context down, preventing irrelevant text from cluttering the downstream model context.</a:t>
            </a:r>
          </a:p>
          <a:p>
            <a:pPr lvl="0"/>
            <a:r>
              <a:rPr lang="en-IN" b="1" dirty="0"/>
              <a:t>Zero Training Overhead:</a:t>
            </a:r>
            <a:r>
              <a:rPr lang="en-IN" dirty="0"/>
              <a:t> Operates strictly via dynamic prompt orchestration and Chain-of-Thought messaging, removing the need for computationally expensive domain fine-tuning or parameter updates.</a:t>
            </a:r>
          </a:p>
          <a:p>
            <a:pPr lvl="0"/>
            <a:r>
              <a:rPr lang="en-IN" b="1" dirty="0"/>
              <a:t>High Interpretability &amp; Modular Control:</a:t>
            </a:r>
            <a:r>
              <a:rPr lang="en-IN" dirty="0"/>
              <a:t> Inter-agent reasoning traces make every intermediate step (planning, extraction, synthesis) explicitly observable and auditable.</a:t>
            </a:r>
          </a:p>
          <a:p>
            <a:endParaRPr lang="en-IN" dirty="0"/>
          </a:p>
        </p:txBody>
      </p:sp>
      <p:sp>
        <p:nvSpPr>
          <p:cNvPr id="27" name="TextBox 26">
            <a:extLst>
              <a:ext uri="{FF2B5EF4-FFF2-40B4-BE49-F238E27FC236}">
                <a16:creationId xmlns:a16="http://schemas.microsoft.com/office/drawing/2014/main" id="{133C4475-489F-6B63-612C-0142678342AF}"/>
              </a:ext>
            </a:extLst>
          </p:cNvPr>
          <p:cNvSpPr txBox="1"/>
          <p:nvPr/>
        </p:nvSpPr>
        <p:spPr>
          <a:xfrm>
            <a:off x="6184490" y="2221835"/>
            <a:ext cx="5662070" cy="4247317"/>
          </a:xfrm>
          <a:prstGeom prst="rect">
            <a:avLst/>
          </a:prstGeom>
          <a:noFill/>
        </p:spPr>
        <p:txBody>
          <a:bodyPr wrap="square" rtlCol="0">
            <a:spAutoFit/>
          </a:bodyPr>
          <a:lstStyle/>
          <a:p>
            <a:pPr lvl="0"/>
            <a:r>
              <a:rPr lang="en-IN" b="1" dirty="0"/>
              <a:t>Increased Inference Latency:</a:t>
            </a:r>
            <a:r>
              <a:rPr lang="en-IN" dirty="0"/>
              <a:t> Cascading sequential calls between four distinct agents (Planner, Step Definer, Extractor, QA Agent) during multi-hop loops creates significant runtime delay compared to single-pass standard RAG pipelines.</a:t>
            </a:r>
          </a:p>
          <a:p>
            <a:pPr lvl="0"/>
            <a:r>
              <a:rPr lang="en-IN" b="1" dirty="0"/>
              <a:t>Higher Cumulative Token Cost:</a:t>
            </a:r>
            <a:r>
              <a:rPr lang="en-IN" dirty="0"/>
              <a:t> Generating intermediate Chain-of-Thought (</a:t>
            </a:r>
            <a:r>
              <a:rPr lang="en-IN" dirty="0" err="1"/>
              <a:t>CoT</a:t>
            </a:r>
            <a:r>
              <a:rPr lang="en-IN" dirty="0"/>
              <a:t>) reasoning traces across multiple agents for every subtask increases token consumption and API operational overhead.</a:t>
            </a:r>
          </a:p>
          <a:p>
            <a:pPr lvl="0"/>
            <a:r>
              <a:rPr lang="en-IN" b="1" dirty="0"/>
              <a:t>Cascading Error Propagation:</a:t>
            </a:r>
            <a:r>
              <a:rPr lang="en-IN" dirty="0"/>
              <a:t> Flaws or incorrect assumptions made by the Planner Agent in the initial step can propagate through the Step Definer and Extractor, compromising downstream evidence retrieval and final QA synthesis.</a:t>
            </a:r>
          </a:p>
          <a:p>
            <a:endParaRPr lang="en-IN" dirty="0"/>
          </a:p>
        </p:txBody>
      </p:sp>
    </p:spTree>
    <p:extLst>
      <p:ext uri="{BB962C8B-B14F-4D97-AF65-F5344CB8AC3E}">
        <p14:creationId xmlns:p14="http://schemas.microsoft.com/office/powerpoint/2010/main" val="2598163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17</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7980218" y="31393"/>
            <a:ext cx="4123291"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116242"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a:t>
            </a:r>
            <a:r>
              <a:rPr lang="en-IN" sz="1400" dirty="0"/>
              <a:t>MA-RAG: MULTI-AGENT RETRIEVAL-AUGMENTED GENERATION VIA COLLABORATIVE CHAIN-OF THOUGHT REASONING</a:t>
            </a:r>
          </a:p>
          <a:p>
            <a:r>
              <a:rPr lang="en-IN" sz="1400" dirty="0"/>
              <a:t>Nguyen et al., Oct 2025)</a:t>
            </a:r>
          </a:p>
        </p:txBody>
      </p:sp>
      <p:sp>
        <p:nvSpPr>
          <p:cNvPr id="7" name="TextBox 6">
            <a:extLst>
              <a:ext uri="{FF2B5EF4-FFF2-40B4-BE49-F238E27FC236}">
                <a16:creationId xmlns:a16="http://schemas.microsoft.com/office/drawing/2014/main" id="{4E217631-7A37-DBA9-8189-50489E9FBC37}"/>
              </a:ext>
            </a:extLst>
          </p:cNvPr>
          <p:cNvSpPr txBox="1"/>
          <p:nvPr/>
        </p:nvSpPr>
        <p:spPr>
          <a:xfrm>
            <a:off x="104186" y="1634278"/>
            <a:ext cx="12087813" cy="369332"/>
          </a:xfrm>
          <a:prstGeom prst="rect">
            <a:avLst/>
          </a:prstGeom>
          <a:noFill/>
        </p:spPr>
        <p:txBody>
          <a:bodyPr wrap="square" rtlCol="0">
            <a:spAutoFit/>
          </a:bodyPr>
          <a:lstStyle/>
          <a:p>
            <a:endParaRPr lang="en-IN" u="sng" dirty="0"/>
          </a:p>
        </p:txBody>
      </p:sp>
      <p:sp>
        <p:nvSpPr>
          <p:cNvPr id="10" name="TextBox 9">
            <a:extLst>
              <a:ext uri="{FF2B5EF4-FFF2-40B4-BE49-F238E27FC236}">
                <a16:creationId xmlns:a16="http://schemas.microsoft.com/office/drawing/2014/main" id="{4B6B3340-3D3D-DB72-D015-5393DD15CAEF}"/>
              </a:ext>
            </a:extLst>
          </p:cNvPr>
          <p:cNvSpPr txBox="1"/>
          <p:nvPr/>
        </p:nvSpPr>
        <p:spPr>
          <a:xfrm>
            <a:off x="135928" y="1634278"/>
            <a:ext cx="11967580" cy="3970318"/>
          </a:xfrm>
          <a:prstGeom prst="rect">
            <a:avLst/>
          </a:prstGeom>
          <a:noFill/>
        </p:spPr>
        <p:txBody>
          <a:bodyPr wrap="square" rtlCol="0">
            <a:spAutoFit/>
          </a:bodyPr>
          <a:lstStyle/>
          <a:p>
            <a:pPr lvl="0"/>
            <a:r>
              <a:rPr lang="en-IN" b="1"/>
              <a:t>Foundation for Multi-Agent Orchestration:</a:t>
            </a:r>
            <a:r>
              <a:rPr lang="en-IN"/>
              <a:t> MA-RAG demonstrates how to decompose complex tasks into specialized sub-agents (Planner, Step Definer, Extractor, QA Agent). You can adapt this architecture to structure your platform's interview workflows—for instance, assigning distinct agents for resume parsing, dynamic question generation, candidate answer evaluation, and feedback synthesis. </a:t>
            </a:r>
          </a:p>
          <a:p>
            <a:pPr lvl="0"/>
            <a:r>
              <a:rPr lang="en-IN" b="1"/>
              <a:t>Explainable &amp; Grounded Evaluation:</a:t>
            </a:r>
            <a:r>
              <a:rPr lang="en-IN"/>
              <a:t> By using a dedicated </a:t>
            </a:r>
            <a:r>
              <a:rPr lang="en-IN" b="1"/>
              <a:t>Extractor Agent</a:t>
            </a:r>
            <a:r>
              <a:rPr lang="en-IN"/>
              <a:t> to filter raw context and relying on explicit Chain-of-Thought (CoT) communication, MA-RAG significantly reduces hallucinations and noise. This aligns directly with your research goal of generating highly accurate, explainable candidate performance feedback grounded in specific resume details and job requirements. </a:t>
            </a:r>
          </a:p>
          <a:p>
            <a:pPr lvl="0"/>
            <a:r>
              <a:rPr lang="en-IN" b="1"/>
              <a:t>Dynamic Adaptive Workflows:</a:t>
            </a:r>
            <a:r>
              <a:rPr lang="en-IN"/>
              <a:t> MA-RAG’s step-by-step reasoning loop enables dynamic handling of unstructured, ambiguous queries. In your platform, this allows the interview agent to adaptively adjust follow-up questions or evaluation criteria based on a candidate's live responses rather than following a rigid set of pre-written questions. </a:t>
            </a:r>
          </a:p>
          <a:p>
            <a:pPr lvl="0"/>
            <a:r>
              <a:rPr lang="en-IN" b="1"/>
              <a:t>Architectural Baseline &amp; Evolution:</a:t>
            </a:r>
            <a:r>
              <a:rPr lang="en-IN"/>
              <a:t> MA-RAG provides a strong reference point for your literature review. You can highlight how your research builds upon training-free, multi-agent RAG principles—combining orchestration models like MA-RAG and HERA to create an intelligent, personalized interview environment.</a:t>
            </a:r>
          </a:p>
        </p:txBody>
      </p:sp>
    </p:spTree>
    <p:extLst>
      <p:ext uri="{BB962C8B-B14F-4D97-AF65-F5344CB8AC3E}">
        <p14:creationId xmlns:p14="http://schemas.microsoft.com/office/powerpoint/2010/main" val="3867205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18</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04186" y="780172"/>
            <a:ext cx="716769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 - Summary</a:t>
            </a:r>
          </a:p>
        </p:txBody>
      </p:sp>
      <p:sp>
        <p:nvSpPr>
          <p:cNvPr id="2" name="TextBox 1">
            <a:extLst>
              <a:ext uri="{FF2B5EF4-FFF2-40B4-BE49-F238E27FC236}">
                <a16:creationId xmlns:a16="http://schemas.microsoft.com/office/drawing/2014/main" id="{50EC79EE-C1C4-E275-0987-67B7B3A60CCB}"/>
              </a:ext>
            </a:extLst>
          </p:cNvPr>
          <p:cNvSpPr txBox="1"/>
          <p:nvPr/>
        </p:nvSpPr>
        <p:spPr>
          <a:xfrm>
            <a:off x="7910946" y="31393"/>
            <a:ext cx="4192564"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23BQ1A6105</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254788"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graphicFrame>
        <p:nvGraphicFramePr>
          <p:cNvPr id="7" name="Table 6"/>
          <p:cNvGraphicFramePr>
            <a:graphicFrameLocks noGrp="1"/>
          </p:cNvGraphicFramePr>
          <p:nvPr>
            <p:extLst>
              <p:ext uri="{D42A27DB-BD31-4B8C-83A1-F6EECF244321}">
                <p14:modId xmlns:p14="http://schemas.microsoft.com/office/powerpoint/2010/main" val="1210700674"/>
              </p:ext>
            </p:extLst>
          </p:nvPr>
        </p:nvGraphicFramePr>
        <p:xfrm>
          <a:off x="104186" y="1180282"/>
          <a:ext cx="11999324" cy="5671880"/>
        </p:xfrm>
        <a:graphic>
          <a:graphicData uri="http://schemas.openxmlformats.org/drawingml/2006/table">
            <a:tbl>
              <a:tblPr firstRow="1" bandRow="1">
                <a:tableStyleId>{5940675A-B579-460E-94D1-54222C63F5DA}</a:tableStyleId>
              </a:tblPr>
              <a:tblGrid>
                <a:gridCol w="2049495">
                  <a:extLst>
                    <a:ext uri="{9D8B030D-6E8A-4147-A177-3AD203B41FA5}">
                      <a16:colId xmlns:a16="http://schemas.microsoft.com/office/drawing/2014/main" val="20000"/>
                    </a:ext>
                  </a:extLst>
                </a:gridCol>
                <a:gridCol w="1798624">
                  <a:extLst>
                    <a:ext uri="{9D8B030D-6E8A-4147-A177-3AD203B41FA5}">
                      <a16:colId xmlns:a16="http://schemas.microsoft.com/office/drawing/2014/main" val="20001"/>
                    </a:ext>
                  </a:extLst>
                </a:gridCol>
                <a:gridCol w="3351475">
                  <a:extLst>
                    <a:ext uri="{9D8B030D-6E8A-4147-A177-3AD203B41FA5}">
                      <a16:colId xmlns:a16="http://schemas.microsoft.com/office/drawing/2014/main" val="20002"/>
                    </a:ext>
                  </a:extLst>
                </a:gridCol>
                <a:gridCol w="2399865">
                  <a:extLst>
                    <a:ext uri="{9D8B030D-6E8A-4147-A177-3AD203B41FA5}">
                      <a16:colId xmlns:a16="http://schemas.microsoft.com/office/drawing/2014/main" val="20003"/>
                    </a:ext>
                  </a:extLst>
                </a:gridCol>
                <a:gridCol w="2399865">
                  <a:extLst>
                    <a:ext uri="{9D8B030D-6E8A-4147-A177-3AD203B41FA5}">
                      <a16:colId xmlns:a16="http://schemas.microsoft.com/office/drawing/2014/main" val="20004"/>
                    </a:ext>
                  </a:extLst>
                </a:gridCol>
              </a:tblGrid>
              <a:tr h="459800">
                <a:tc>
                  <a:txBody>
                    <a:bodyPr/>
                    <a:lstStyle/>
                    <a:p>
                      <a:pPr algn="ctr"/>
                      <a:r>
                        <a:rPr lang="en-IN" dirty="0">
                          <a:latin typeface="Times New Roman" panose="02020603050405020304" pitchFamily="18" charset="0"/>
                          <a:cs typeface="Times New Roman" panose="02020603050405020304" pitchFamily="18" charset="0"/>
                        </a:rPr>
                        <a:t>Reference</a:t>
                      </a:r>
                    </a:p>
                  </a:txBody>
                  <a:tcPr anchor="ctr">
                    <a:solidFill>
                      <a:schemeClr val="bg1">
                        <a:lumMod val="85000"/>
                      </a:schemeClr>
                    </a:solidFill>
                  </a:tcPr>
                </a:tc>
                <a:tc>
                  <a:txBody>
                    <a:bodyPr/>
                    <a:lstStyle/>
                    <a:p>
                      <a:pPr algn="ctr"/>
                      <a:r>
                        <a:rPr lang="en-IN" dirty="0">
                          <a:latin typeface="Times New Roman" panose="02020603050405020304" pitchFamily="18" charset="0"/>
                          <a:cs typeface="Times New Roman" panose="02020603050405020304" pitchFamily="18" charset="0"/>
                        </a:rPr>
                        <a:t>Year</a:t>
                      </a:r>
                    </a:p>
                  </a:txBody>
                  <a:tcPr anchor="ctr">
                    <a:solidFill>
                      <a:schemeClr val="bg1">
                        <a:lumMod val="85000"/>
                      </a:schemeClr>
                    </a:solidFill>
                  </a:tcPr>
                </a:tc>
                <a:tc>
                  <a:txBody>
                    <a:bodyPr/>
                    <a:lstStyle/>
                    <a:p>
                      <a:pPr algn="ctr"/>
                      <a:r>
                        <a:rPr lang="en-IN" dirty="0">
                          <a:latin typeface="Times New Roman" panose="02020603050405020304" pitchFamily="18" charset="0"/>
                          <a:cs typeface="Times New Roman" panose="02020603050405020304" pitchFamily="18" charset="0"/>
                        </a:rPr>
                        <a:t>Main Idea</a:t>
                      </a:r>
                    </a:p>
                  </a:txBody>
                  <a:tcPr anchor="ctr">
                    <a:solidFill>
                      <a:schemeClr val="bg1">
                        <a:lumMod val="85000"/>
                      </a:schemeClr>
                    </a:solidFill>
                  </a:tcPr>
                </a:tc>
                <a:tc>
                  <a:txBody>
                    <a:bodyPr/>
                    <a:lstStyle/>
                    <a:p>
                      <a:pPr algn="ctr"/>
                      <a:r>
                        <a:rPr lang="en-IN" dirty="0">
                          <a:latin typeface="Times New Roman" panose="02020603050405020304" pitchFamily="18" charset="0"/>
                          <a:cs typeface="Times New Roman" panose="02020603050405020304" pitchFamily="18" charset="0"/>
                        </a:rPr>
                        <a:t>Strengths</a:t>
                      </a:r>
                    </a:p>
                  </a:txBody>
                  <a:tcPr anchor="ctr">
                    <a:solidFill>
                      <a:schemeClr val="bg1">
                        <a:lumMod val="85000"/>
                      </a:schemeClr>
                    </a:solidFill>
                  </a:tcPr>
                </a:tc>
                <a:tc>
                  <a:txBody>
                    <a:bodyPr/>
                    <a:lstStyle/>
                    <a:p>
                      <a:pPr algn="ctr"/>
                      <a:r>
                        <a:rPr lang="en-IN" dirty="0">
                          <a:latin typeface="Times New Roman" panose="02020603050405020304" pitchFamily="18" charset="0"/>
                          <a:cs typeface="Times New Roman" panose="02020603050405020304" pitchFamily="18" charset="0"/>
                        </a:rPr>
                        <a:t>Limitations</a:t>
                      </a:r>
                    </a:p>
                  </a:txBody>
                  <a:tcPr anchor="ctr">
                    <a:solidFill>
                      <a:schemeClr val="bg1">
                        <a:lumMod val="85000"/>
                      </a:schemeClr>
                    </a:solidFill>
                  </a:tcPr>
                </a:tc>
                <a:extLst>
                  <a:ext uri="{0D108BD9-81ED-4DB2-BD59-A6C34878D82A}">
                    <a16:rowId xmlns:a16="http://schemas.microsoft.com/office/drawing/2014/main" val="10000"/>
                  </a:ext>
                </a:extLst>
              </a:tr>
              <a:tr h="1614612">
                <a:tc>
                  <a:txBody>
                    <a:bodyPr/>
                    <a:lstStyle/>
                    <a:p>
                      <a:r>
                        <a:rPr lang="en-IN" dirty="0"/>
                        <a:t>Patil et al. (</a:t>
                      </a:r>
                      <a:r>
                        <a:rPr lang="en-IN" dirty="0" err="1"/>
                        <a:t>JobMatchr</a:t>
                      </a:r>
                      <a:r>
                        <a:rPr lang="en-IN" dirty="0"/>
                        <a:t>)</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IN" dirty="0">
                          <a:latin typeface="Times New Roman" panose="02020603050405020304" pitchFamily="18" charset="0"/>
                          <a:cs typeface="Times New Roman" panose="02020603050405020304" pitchFamily="18" charset="0"/>
                        </a:rPr>
                        <a:t>2025</a:t>
                      </a:r>
                    </a:p>
                  </a:txBody>
                  <a:tcPr anchor="ctr"/>
                </a:tc>
                <a:tc>
                  <a:txBody>
                    <a:bodyPr/>
                    <a:lstStyle/>
                    <a:p>
                      <a:pPr>
                        <a:buNone/>
                      </a:pPr>
                      <a:r>
                        <a:rPr lang="en-IN" dirty="0"/>
                        <a:t>Uses Flask, </a:t>
                      </a:r>
                      <a:r>
                        <a:rPr lang="en-IN" dirty="0" err="1"/>
                        <a:t>ChromaDB</a:t>
                      </a:r>
                      <a:r>
                        <a:rPr lang="en-IN" dirty="0"/>
                        <a:t>, and Gemini-2.0-flash to perform RAG-based resume analysis and ATS gap detection</a:t>
                      </a:r>
                    </a:p>
                  </a:txBody>
                  <a:tcPr anchor="ctr"/>
                </a:tc>
                <a:tc>
                  <a:txBody>
                    <a:bodyPr/>
                    <a:lstStyle/>
                    <a:p>
                      <a:pPr>
                        <a:buNone/>
                      </a:pPr>
                      <a:r>
                        <a:rPr lang="en-IN" dirty="0"/>
                        <a:t>Deeper semantic matching beyond simple keyword counts; actionable candidate feedback.</a:t>
                      </a:r>
                    </a:p>
                  </a:txBody>
                  <a:tcPr anchor="ctr"/>
                </a:tc>
                <a:tc>
                  <a:txBody>
                    <a:bodyPr/>
                    <a:lstStyle/>
                    <a:p>
                      <a:r>
                        <a:rPr lang="en-IN" dirty="0"/>
                        <a:t>Dependent on PDF parsing accuracy (</a:t>
                      </a:r>
                      <a:r>
                        <a:rPr lang="en-IN" sz="1800" kern="1200" dirty="0" err="1">
                          <a:solidFill>
                            <a:schemeClr val="tx1"/>
                          </a:solidFill>
                          <a:latin typeface="+mn-lt"/>
                          <a:ea typeface="+mn-ea"/>
                          <a:cs typeface="+mn-cs"/>
                        </a:rPr>
                        <a:t>pdfplumber</a:t>
                      </a:r>
                      <a:r>
                        <a:rPr lang="en-IN" dirty="0"/>
                        <a:t>); cannot evaluate visual/graphical elements.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1359673">
                <a:tc>
                  <a:txBody>
                    <a:bodyPr/>
                    <a:lstStyle/>
                    <a:p>
                      <a:r>
                        <a:rPr lang="en-IN" sz="1800" dirty="0"/>
                        <a:t>Nguyen et al</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IN" dirty="0">
                          <a:latin typeface="Times New Roman" panose="02020603050405020304" pitchFamily="18" charset="0"/>
                          <a:cs typeface="Times New Roman" panose="02020603050405020304" pitchFamily="18" charset="0"/>
                        </a:rPr>
                        <a:t>2025</a:t>
                      </a:r>
                    </a:p>
                  </a:txBody>
                  <a:tcPr anchor="ctr"/>
                </a:tc>
                <a:tc>
                  <a:txBody>
                    <a:bodyPr/>
                    <a:lstStyle/>
                    <a:p>
                      <a:r>
                        <a:rPr lang="en-IN" dirty="0"/>
                        <a:t>Training-free framework using specialized agents (Planner, Extractor, QA) for complex, multi-hop RAG reasoning.</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t>High accuracy on complex queries; reduces context noise via explicit evidence extraction</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t>Increased inference latency and higher token costs due to multi-agent API calls.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1869551">
                <a:tc>
                  <a:txBody>
                    <a:bodyPr/>
                    <a:lstStyle/>
                    <a:p>
                      <a:r>
                        <a:rPr lang="en-IN" sz="1800" b="1"/>
                        <a:t>Sha Li</a:t>
                      </a:r>
                      <a:r>
                        <a:rPr lang="en-IN" sz="1800"/>
                        <a:t> and </a:t>
                      </a:r>
                      <a:r>
                        <a:rPr lang="en-IN" sz="1800" b="1"/>
                        <a:t>Naren Ramakrishnan</a:t>
                      </a:r>
                      <a:r>
                        <a:rPr lang="en-IN" sz="1800"/>
                        <a:t> </a:t>
                      </a:r>
                      <a:r>
                        <a:rPr lang="en-IN">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et al</a:t>
                      </a:r>
                    </a:p>
                  </a:txBody>
                  <a:tcPr anchor="ctr"/>
                </a:tc>
                <a:tc>
                  <a:txBody>
                    <a:bodyPr/>
                    <a:lstStyle/>
                    <a:p>
                      <a:pPr algn="ctr"/>
                      <a:r>
                        <a:rPr lang="en-IN" dirty="0">
                          <a:latin typeface="Times New Roman" panose="02020603050405020304" pitchFamily="18" charset="0"/>
                          <a:cs typeface="Times New Roman" panose="02020603050405020304" pitchFamily="18" charset="0"/>
                        </a:rPr>
                        <a:t>2026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Introduces </a:t>
                      </a:r>
                      <a:r>
                        <a:rPr lang="en-IN" b="1" dirty="0"/>
                        <a:t>HERA</a:t>
                      </a:r>
                      <a:r>
                        <a:rPr lang="en-IN" dirty="0"/>
                        <a:t>, a hierarchical framework for multi-agent Retrieval-Augmented Generation (RAG) that solves complex multi-hop queries </a:t>
                      </a:r>
                    </a:p>
                    <a:p>
                      <a:pPr>
                        <a:buNone/>
                      </a:pPr>
                      <a:endParaRPr lang="en-IN" dirty="0"/>
                    </a:p>
                  </a:txBody>
                  <a:tcPr anchor="ctr"/>
                </a:tc>
                <a:tc>
                  <a:txBody>
                    <a:bodyPr/>
                    <a:lstStyle/>
                    <a:p>
                      <a:pPr>
                        <a:buNone/>
                      </a:pPr>
                      <a:r>
                        <a:rPr lang="en-IN" dirty="0"/>
                        <a:t>• </a:t>
                      </a:r>
                      <a:r>
                        <a:rPr lang="en-IN" b="1" dirty="0"/>
                        <a:t>Performance Boost:</a:t>
                      </a:r>
                      <a:r>
                        <a:rPr lang="en-IN" dirty="0"/>
                        <a:t> Delivers an average accuracy/F1 improvement of </a:t>
                      </a:r>
                      <a:r>
                        <a:rPr lang="en-IN" b="1" dirty="0"/>
                        <a:t>38.69%</a:t>
                      </a:r>
                      <a:r>
                        <a:rPr lang="en-IN" dirty="0"/>
                        <a:t> over state-of-the-art agentic RAG baselines.</a:t>
                      </a:r>
                    </a:p>
                  </a:txBody>
                  <a:tcPr anchor="ctr"/>
                </a:tc>
                <a:tc>
                  <a:txBody>
                    <a:bodyPr/>
                    <a:lstStyle/>
                    <a:p>
                      <a:r>
                        <a:rPr lang="en-IN" dirty="0"/>
                        <a:t>• </a:t>
                      </a:r>
                      <a:r>
                        <a:rPr lang="en-IN" b="1" dirty="0"/>
                        <a:t>Orchestrator Dependency:</a:t>
                      </a:r>
                      <a:r>
                        <a:rPr lang="en-IN" dirty="0"/>
                        <a:t> Performance relies heavily on the central orchestrator's credit assignment accuracy to diagnose agent errors.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85858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17-09-2026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19</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7" y="877163"/>
            <a:ext cx="716769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Review – 1 </a:t>
            </a:r>
          </a:p>
        </p:txBody>
      </p:sp>
      <p:sp>
        <p:nvSpPr>
          <p:cNvPr id="2" name="TextBox 1">
            <a:extLst>
              <a:ext uri="{FF2B5EF4-FFF2-40B4-BE49-F238E27FC236}">
                <a16:creationId xmlns:a16="http://schemas.microsoft.com/office/drawing/2014/main" id="{50EC79EE-C1C4-E275-0987-67B7B3A60CCB}"/>
              </a:ext>
            </a:extLst>
          </p:cNvPr>
          <p:cNvSpPr txBox="1"/>
          <p:nvPr/>
        </p:nvSpPr>
        <p:spPr>
          <a:xfrm>
            <a:off x="7800110" y="31393"/>
            <a:ext cx="4303400"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IN" sz="1200" dirty="0">
                <a:latin typeface="Times New Roman" panose="02020603050405020304" pitchFamily="18" charset="0"/>
                <a:cs typeface="Times New Roman" panose="02020603050405020304" pitchFamily="18" charset="0"/>
                <a:sym typeface="+mn-ea"/>
              </a:rPr>
              <a:t>Mrs.</a:t>
            </a:r>
            <a:r>
              <a:rPr lang="en-US" altLang="en-US" sz="1200" dirty="0">
                <a:latin typeface="Times New Roman" panose="02020603050405020304" pitchFamily="18" charset="0"/>
                <a:cs typeface="Times New Roman" panose="02020603050405020304" pitchFamily="18" charset="0"/>
                <a:sym typeface="+mn-ea"/>
              </a:rPr>
              <a:t>V. Asha Jyothi </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Batch ID:</a:t>
            </a:r>
            <a:r>
              <a:rPr lang="en-US" altLang="en-IN" sz="1200" dirty="0">
                <a:latin typeface="Times New Roman" panose="02020603050405020304" pitchFamily="18" charset="0"/>
                <a:cs typeface="Times New Roman" panose="02020603050405020304" pitchFamily="18" charset="0"/>
              </a:rPr>
              <a:t> A10</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a:t>
            </a:r>
            <a:r>
              <a:rPr lang="en-US" altLang="en-IN" sz="1200" dirty="0">
                <a:latin typeface="Times New Roman" panose="02020603050405020304" pitchFamily="18" charset="0"/>
                <a:cs typeface="Times New Roman" panose="02020603050405020304" pitchFamily="18" charset="0"/>
              </a:rPr>
              <a:t>. </a:t>
            </a:r>
            <a:r>
              <a:rPr lang="en-US" altLang="en-US" sz="1200" dirty="0">
                <a:sym typeface="+mn-ea"/>
              </a:rPr>
              <a:t>24BQ5A6103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r>
              <a:rPr lang="en-US" altLang="en-IN" sz="1200" dirty="0">
                <a:latin typeface="Times New Roman" panose="02020603050405020304" pitchFamily="18" charset="0"/>
                <a:cs typeface="Times New Roman" panose="02020603050405020304" pitchFamily="18" charset="0"/>
              </a:rPr>
              <a:t>. 23BQ1A6122</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a:t>
            </a:r>
            <a:r>
              <a:rPr lang="en-US" altLang="en-IN" sz="1200" dirty="0">
                <a:latin typeface="Times New Roman" panose="02020603050405020304" pitchFamily="18" charset="0"/>
                <a:cs typeface="Times New Roman" panose="02020603050405020304" pitchFamily="18" charset="0"/>
              </a:rPr>
              <a:t>. 23BQ1A6150</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r>
              <a:rPr lang="en-US" altLang="en-IN" sz="1200" dirty="0">
                <a:latin typeface="Times New Roman" panose="02020603050405020304" pitchFamily="18" charset="0"/>
                <a:cs typeface="Times New Roman" panose="02020603050405020304" pitchFamily="18" charset="0"/>
              </a:rPr>
              <a:t>. </a:t>
            </a:r>
            <a:r>
              <a:rPr lang="en-US" altLang="en-IN" sz="1200">
                <a:latin typeface="Times New Roman" panose="02020603050405020304" pitchFamily="18" charset="0"/>
                <a:cs typeface="Times New Roman" panose="02020603050405020304" pitchFamily="18" charset="0"/>
              </a:rPr>
              <a:t>23BQ1A6105</a:t>
            </a:r>
            <a:endParaRPr lang="en-US" altLang="en-IN" sz="12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6130097" cy="646331"/>
          </a:xfrm>
          <a:prstGeom prst="rect">
            <a:avLst/>
          </a:prstGeom>
          <a:noFill/>
        </p:spPr>
        <p:txBody>
          <a:bodyPr wrap="square" rtlCol="0">
            <a:spAutoFit/>
          </a:bodyPr>
          <a:lstStyle/>
          <a:p>
            <a:pPr algn="ctr"/>
            <a:r>
              <a:rPr lang="en-US" altLang="en-US" dirty="0">
                <a:latin typeface="Times New Roman" panose="02020603050405020304" pitchFamily="18" charset="0"/>
                <a:cs typeface="Times New Roman" panose="02020603050405020304" pitchFamily="18" charset="0"/>
                <a:sym typeface="+mn-ea"/>
              </a:rPr>
              <a:t>Adaptive Interview Intelligence Platform Using Multi-Agent AI and Retrieval-Augmented Generation. </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6" name="TextBox 5"/>
          <p:cNvSpPr txBox="1"/>
          <p:nvPr/>
        </p:nvSpPr>
        <p:spPr>
          <a:xfrm>
            <a:off x="4641448" y="3010622"/>
            <a:ext cx="2236510" cy="646331"/>
          </a:xfrm>
          <a:prstGeom prst="rect">
            <a:avLst/>
          </a:prstGeom>
          <a:noFill/>
        </p:spPr>
        <p:txBody>
          <a:bodyPr wrap="none" rtlCol="0">
            <a:spAutoFit/>
          </a:bodyPr>
          <a:lstStyle/>
          <a:p>
            <a:r>
              <a:rPr lang="en-IN" sz="3600" dirty="0">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1322043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1173</TotalTime>
  <Words>4575</Words>
  <Application>Microsoft Office PowerPoint</Application>
  <PresentationFormat>Widescreen</PresentationFormat>
  <Paragraphs>381</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mualidhar V</dc:creator>
  <cp:lastModifiedBy>ARUN KUMAR</cp:lastModifiedBy>
  <cp:revision>50</cp:revision>
  <dcterms:created xsi:type="dcterms:W3CDTF">2023-07-18T12:47:32Z</dcterms:created>
  <dcterms:modified xsi:type="dcterms:W3CDTF">2026-09-17T09:00:34Z</dcterms:modified>
</cp:coreProperties>
</file>